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hildling" charset="1" panose="00000000000000000000"/>
      <p:regular r:id="rId23"/>
    </p:embeddedFont>
    <p:embeddedFont>
      <p:font typeface="Marykate" charset="1" panose="00000000000000000000"/>
      <p:regular r:id="rId24"/>
    </p:embeddedFont>
    <p:embeddedFont>
      <p:font typeface="Be Vietnam"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9.pn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0.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37039" y="2417062"/>
            <a:ext cx="14813922" cy="6318275"/>
          </a:xfrm>
          <a:prstGeom prst="rect">
            <a:avLst/>
          </a:prstGeom>
        </p:spPr>
        <p:txBody>
          <a:bodyPr anchor="t" rtlCol="false" tIns="0" lIns="0" bIns="0" rIns="0">
            <a:spAutoFit/>
          </a:bodyPr>
          <a:lstStyle/>
          <a:p>
            <a:pPr algn="ctr">
              <a:lnSpc>
                <a:spcPts val="22236"/>
              </a:lnSpc>
            </a:pPr>
            <a:r>
              <a:rPr lang="en-US" sz="24170" spc="-773">
                <a:solidFill>
                  <a:srgbClr val="FF5757"/>
                </a:solidFill>
                <a:latin typeface="Childling"/>
                <a:ea typeface="Childling"/>
                <a:cs typeface="Childling"/>
                <a:sym typeface="Childling"/>
              </a:rPr>
              <a:t>CONTADOR BASE N UNIVERSAL</a:t>
            </a:r>
          </a:p>
        </p:txBody>
      </p:sp>
      <p:sp>
        <p:nvSpPr>
          <p:cNvPr name="TextBox 3" id="3"/>
          <p:cNvSpPr txBox="true"/>
          <p:nvPr/>
        </p:nvSpPr>
        <p:spPr>
          <a:xfrm rot="0">
            <a:off x="7159006" y="1135971"/>
            <a:ext cx="4322020" cy="887556"/>
          </a:xfrm>
          <a:prstGeom prst="rect">
            <a:avLst/>
          </a:prstGeom>
        </p:spPr>
        <p:txBody>
          <a:bodyPr anchor="t" rtlCol="false" tIns="0" lIns="0" bIns="0" rIns="0">
            <a:spAutoFit/>
          </a:bodyPr>
          <a:lstStyle/>
          <a:p>
            <a:pPr algn="ctr">
              <a:lnSpc>
                <a:spcPts val="5008"/>
              </a:lnSpc>
            </a:pPr>
            <a:r>
              <a:rPr lang="en-US" sz="3430" spc="353">
                <a:solidFill>
                  <a:srgbClr val="022033"/>
                </a:solidFill>
                <a:latin typeface="Marykate"/>
                <a:ea typeface="Marykate"/>
                <a:cs typeface="Marykate"/>
                <a:sym typeface="Marykate"/>
              </a:rPr>
              <a:t>DISEÑO LOGICO - 302</a:t>
            </a:r>
          </a:p>
        </p:txBody>
      </p:sp>
      <p:sp>
        <p:nvSpPr>
          <p:cNvPr name="Freeform 4" id="4"/>
          <p:cNvSpPr/>
          <p:nvPr/>
        </p:nvSpPr>
        <p:spPr>
          <a:xfrm flipH="false" flipV="false" rot="0">
            <a:off x="13245906" y="5485712"/>
            <a:ext cx="1843201" cy="2431080"/>
          </a:xfrm>
          <a:custGeom>
            <a:avLst/>
            <a:gdLst/>
            <a:ahLst/>
            <a:cxnLst/>
            <a:rect r="r" b="b" t="t" l="l"/>
            <a:pathLst>
              <a:path h="2431080" w="1843201">
                <a:moveTo>
                  <a:pt x="0" y="0"/>
                </a:moveTo>
                <a:lnTo>
                  <a:pt x="1843200" y="0"/>
                </a:lnTo>
                <a:lnTo>
                  <a:pt x="1843200" y="2431080"/>
                </a:lnTo>
                <a:lnTo>
                  <a:pt x="0" y="2431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910484">
            <a:off x="-495162" y="7935975"/>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806484">
            <a:off x="-3174902" y="3100376"/>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137161">
            <a:off x="11071276" y="-3108299"/>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4333730">
            <a:off x="15635070" y="-90841"/>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700000">
            <a:off x="-1883985" y="-538241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8"/>
            <a:stretch>
              <a:fillRect l="0" t="0" r="0" b="0"/>
            </a:stretch>
          </a:blipFill>
        </p:spPr>
      </p:sp>
      <p:sp>
        <p:nvSpPr>
          <p:cNvPr name="TextBox 10" id="10"/>
          <p:cNvSpPr txBox="true"/>
          <p:nvPr/>
        </p:nvSpPr>
        <p:spPr>
          <a:xfrm rot="0">
            <a:off x="6089809" y="8310119"/>
            <a:ext cx="6108382" cy="745641"/>
          </a:xfrm>
          <a:prstGeom prst="rect">
            <a:avLst/>
          </a:prstGeom>
        </p:spPr>
        <p:txBody>
          <a:bodyPr anchor="t" rtlCol="false" tIns="0" lIns="0" bIns="0" rIns="0">
            <a:spAutoFit/>
          </a:bodyPr>
          <a:lstStyle/>
          <a:p>
            <a:pPr algn="ctr">
              <a:lnSpc>
                <a:spcPts val="6198"/>
              </a:lnSpc>
            </a:pPr>
            <a:r>
              <a:rPr lang="en-US" sz="4245" spc="437">
                <a:solidFill>
                  <a:srgbClr val="022033"/>
                </a:solidFill>
                <a:latin typeface="Marykate"/>
                <a:ea typeface="Marykate"/>
                <a:cs typeface="Marykate"/>
                <a:sym typeface="Marykate"/>
              </a:rPr>
              <a:t>POR SEBASTIÁN SANDOVAL</a:t>
            </a:r>
          </a:p>
        </p:txBody>
      </p:sp>
      <p:sp>
        <p:nvSpPr>
          <p:cNvPr name="Freeform 11" id="11"/>
          <p:cNvSpPr/>
          <p:nvPr/>
        </p:nvSpPr>
        <p:spPr>
          <a:xfrm flipH="false" flipV="false" rot="2700000">
            <a:off x="15458638" y="459514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9"/>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1560" y="2040826"/>
            <a:ext cx="14864881" cy="1412075"/>
          </a:xfrm>
          <a:prstGeom prst="rect">
            <a:avLst/>
          </a:prstGeom>
        </p:spPr>
        <p:txBody>
          <a:bodyPr anchor="t" rtlCol="false" tIns="0" lIns="0" bIns="0" rIns="0">
            <a:spAutoFit/>
          </a:bodyPr>
          <a:lstStyle/>
          <a:p>
            <a:pPr algn="ctr">
              <a:lnSpc>
                <a:spcPts val="8931"/>
              </a:lnSpc>
            </a:pPr>
            <a:r>
              <a:rPr lang="en-US" sz="9708">
                <a:solidFill>
                  <a:srgbClr val="022033"/>
                </a:solidFill>
                <a:latin typeface="Childling"/>
                <a:ea typeface="Childling"/>
                <a:cs typeface="Childling"/>
                <a:sym typeface="Childling"/>
              </a:rPr>
              <a:t>RESUMEN DE CONTENIDOS</a:t>
            </a:r>
          </a:p>
        </p:txBody>
      </p:sp>
      <p:grpSp>
        <p:nvGrpSpPr>
          <p:cNvPr name="Group 3" id="3"/>
          <p:cNvGrpSpPr/>
          <p:nvPr/>
        </p:nvGrpSpPr>
        <p:grpSpPr>
          <a:xfrm rot="0">
            <a:off x="4181475" y="6073978"/>
            <a:ext cx="3086100" cy="1111453"/>
            <a:chOff x="0" y="0"/>
            <a:chExt cx="812800" cy="292728"/>
          </a:xfrm>
        </p:grpSpPr>
        <p:sp>
          <p:nvSpPr>
            <p:cNvPr name="Freeform 4" id="4"/>
            <p:cNvSpPr/>
            <p:nvPr/>
          </p:nvSpPr>
          <p:spPr>
            <a:xfrm flipH="false" flipV="false" rot="0">
              <a:off x="0" y="0"/>
              <a:ext cx="812800" cy="292728"/>
            </a:xfrm>
            <a:custGeom>
              <a:avLst/>
              <a:gdLst/>
              <a:ahLst/>
              <a:cxnLst/>
              <a:rect r="r" b="b" t="t" l="l"/>
              <a:pathLst>
                <a:path h="292728" w="812800">
                  <a:moveTo>
                    <a:pt x="127941" y="0"/>
                  </a:moveTo>
                  <a:lnTo>
                    <a:pt x="684859" y="0"/>
                  </a:lnTo>
                  <a:cubicBezTo>
                    <a:pt x="718791" y="0"/>
                    <a:pt x="751333" y="13479"/>
                    <a:pt x="775327" y="37473"/>
                  </a:cubicBezTo>
                  <a:cubicBezTo>
                    <a:pt x="799321" y="61467"/>
                    <a:pt x="812800" y="94009"/>
                    <a:pt x="812800" y="127941"/>
                  </a:cubicBezTo>
                  <a:lnTo>
                    <a:pt x="812800" y="164788"/>
                  </a:lnTo>
                  <a:cubicBezTo>
                    <a:pt x="812800" y="198720"/>
                    <a:pt x="799321" y="231262"/>
                    <a:pt x="775327" y="255255"/>
                  </a:cubicBezTo>
                  <a:cubicBezTo>
                    <a:pt x="751333" y="279249"/>
                    <a:pt x="718791" y="292728"/>
                    <a:pt x="684859" y="292728"/>
                  </a:cubicBezTo>
                  <a:lnTo>
                    <a:pt x="127941" y="292728"/>
                  </a:lnTo>
                  <a:cubicBezTo>
                    <a:pt x="94009" y="292728"/>
                    <a:pt x="61467" y="279249"/>
                    <a:pt x="37473" y="255255"/>
                  </a:cubicBezTo>
                  <a:cubicBezTo>
                    <a:pt x="13479" y="231262"/>
                    <a:pt x="0" y="198720"/>
                    <a:pt x="0" y="164788"/>
                  </a:cubicBezTo>
                  <a:lnTo>
                    <a:pt x="0" y="127941"/>
                  </a:lnTo>
                  <a:cubicBezTo>
                    <a:pt x="0" y="94009"/>
                    <a:pt x="13479" y="61467"/>
                    <a:pt x="37473" y="37473"/>
                  </a:cubicBezTo>
                  <a:cubicBezTo>
                    <a:pt x="61467" y="13479"/>
                    <a:pt x="94009" y="0"/>
                    <a:pt x="127941" y="0"/>
                  </a:cubicBezTo>
                  <a:close/>
                </a:path>
              </a:pathLst>
            </a:custGeom>
            <a:solidFill>
              <a:srgbClr val="FFDE59"/>
            </a:solidFill>
          </p:spPr>
        </p:sp>
        <p:sp>
          <p:nvSpPr>
            <p:cNvPr name="TextBox 5" id="5"/>
            <p:cNvSpPr txBox="true"/>
            <p:nvPr/>
          </p:nvSpPr>
          <p:spPr>
            <a:xfrm>
              <a:off x="0" y="-38100"/>
              <a:ext cx="812800" cy="33082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052197" y="6420454"/>
            <a:ext cx="3478005" cy="513715"/>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PLANTEAMIENTO</a:t>
            </a:r>
          </a:p>
        </p:txBody>
      </p:sp>
      <p:sp>
        <p:nvSpPr>
          <p:cNvPr name="Freeform 7" id="7"/>
          <p:cNvSpPr/>
          <p:nvPr/>
        </p:nvSpPr>
        <p:spPr>
          <a:xfrm flipH="false" flipV="false" rot="1137161">
            <a:off x="16140723" y="286129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333730">
            <a:off x="15530761" y="6751870"/>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5397">
            <a:off x="15229157" y="-3879341"/>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0" id="10"/>
          <p:cNvSpPr/>
          <p:nvPr/>
        </p:nvSpPr>
        <p:spPr>
          <a:xfrm flipH="false" flipV="false" rot="5400000">
            <a:off x="9841823" y="-3604950"/>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459995">
            <a:off x="4581302" y="-2806779"/>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7491922">
            <a:off x="-2893486" y="-49870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3" id="13"/>
          <p:cNvSpPr/>
          <p:nvPr/>
        </p:nvSpPr>
        <p:spPr>
          <a:xfrm flipH="false" flipV="false" rot="6784072">
            <a:off x="-2971144" y="288749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459995">
            <a:off x="-1425658" y="7497003"/>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2259001">
            <a:off x="3811502" y="82973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6" id="16"/>
          <p:cNvSpPr/>
          <p:nvPr/>
        </p:nvSpPr>
        <p:spPr>
          <a:xfrm flipH="false" flipV="false" rot="6784072">
            <a:off x="8300863" y="9026402"/>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459995">
            <a:off x="10957599" y="869969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4052197" y="4395378"/>
            <a:ext cx="3152775" cy="1111453"/>
            <a:chOff x="0" y="0"/>
            <a:chExt cx="830360" cy="292728"/>
          </a:xfrm>
        </p:grpSpPr>
        <p:sp>
          <p:nvSpPr>
            <p:cNvPr name="Freeform 19" id="19"/>
            <p:cNvSpPr/>
            <p:nvPr/>
          </p:nvSpPr>
          <p:spPr>
            <a:xfrm flipH="false" flipV="false" rot="0">
              <a:off x="0" y="0"/>
              <a:ext cx="830360" cy="292728"/>
            </a:xfrm>
            <a:custGeom>
              <a:avLst/>
              <a:gdLst/>
              <a:ahLst/>
              <a:cxnLst/>
              <a:rect r="r" b="b" t="t" l="l"/>
              <a:pathLst>
                <a:path h="292728" w="830360">
                  <a:moveTo>
                    <a:pt x="125235" y="0"/>
                  </a:moveTo>
                  <a:lnTo>
                    <a:pt x="705125" y="0"/>
                  </a:lnTo>
                  <a:cubicBezTo>
                    <a:pt x="738340" y="0"/>
                    <a:pt x="770194" y="13194"/>
                    <a:pt x="793680" y="36680"/>
                  </a:cubicBezTo>
                  <a:cubicBezTo>
                    <a:pt x="817166" y="60167"/>
                    <a:pt x="830360" y="92021"/>
                    <a:pt x="830360" y="125235"/>
                  </a:cubicBezTo>
                  <a:lnTo>
                    <a:pt x="830360" y="167493"/>
                  </a:lnTo>
                  <a:cubicBezTo>
                    <a:pt x="830360" y="200708"/>
                    <a:pt x="817166" y="232562"/>
                    <a:pt x="793680" y="256048"/>
                  </a:cubicBezTo>
                  <a:cubicBezTo>
                    <a:pt x="770194" y="279534"/>
                    <a:pt x="738340" y="292728"/>
                    <a:pt x="705125" y="292728"/>
                  </a:cubicBezTo>
                  <a:lnTo>
                    <a:pt x="125235" y="292728"/>
                  </a:lnTo>
                  <a:cubicBezTo>
                    <a:pt x="56070" y="292728"/>
                    <a:pt x="0" y="236659"/>
                    <a:pt x="0" y="167493"/>
                  </a:cubicBezTo>
                  <a:lnTo>
                    <a:pt x="0" y="125235"/>
                  </a:lnTo>
                  <a:cubicBezTo>
                    <a:pt x="0" y="92021"/>
                    <a:pt x="13194" y="60167"/>
                    <a:pt x="36680" y="36680"/>
                  </a:cubicBezTo>
                  <a:cubicBezTo>
                    <a:pt x="60167" y="13194"/>
                    <a:pt x="92021" y="0"/>
                    <a:pt x="125235" y="0"/>
                  </a:cubicBezTo>
                  <a:close/>
                </a:path>
              </a:pathLst>
            </a:custGeom>
            <a:solidFill>
              <a:srgbClr val="FF5757"/>
            </a:solidFill>
          </p:spPr>
        </p:sp>
        <p:sp>
          <p:nvSpPr>
            <p:cNvPr name="TextBox 20" id="20"/>
            <p:cNvSpPr txBox="true"/>
            <p:nvPr/>
          </p:nvSpPr>
          <p:spPr>
            <a:xfrm>
              <a:off x="0" y="-38100"/>
              <a:ext cx="830360" cy="330828"/>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3926992" y="4703754"/>
            <a:ext cx="3478005" cy="816229"/>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INTRODUCCIÓN</a:t>
            </a:r>
          </a:p>
          <a:p>
            <a:pPr algn="ctr">
              <a:lnSpc>
                <a:spcPts val="2576"/>
              </a:lnSpc>
            </a:pPr>
          </a:p>
        </p:txBody>
      </p:sp>
      <p:grpSp>
        <p:nvGrpSpPr>
          <p:cNvPr name="Group 22" id="22"/>
          <p:cNvGrpSpPr/>
          <p:nvPr/>
        </p:nvGrpSpPr>
        <p:grpSpPr>
          <a:xfrm rot="0">
            <a:off x="7600950" y="4395378"/>
            <a:ext cx="3086100" cy="1111453"/>
            <a:chOff x="0" y="0"/>
            <a:chExt cx="812800" cy="292728"/>
          </a:xfrm>
        </p:grpSpPr>
        <p:sp>
          <p:nvSpPr>
            <p:cNvPr name="Freeform 23" id="23"/>
            <p:cNvSpPr/>
            <p:nvPr/>
          </p:nvSpPr>
          <p:spPr>
            <a:xfrm flipH="false" flipV="false" rot="0">
              <a:off x="0" y="0"/>
              <a:ext cx="812800" cy="292728"/>
            </a:xfrm>
            <a:custGeom>
              <a:avLst/>
              <a:gdLst/>
              <a:ahLst/>
              <a:cxnLst/>
              <a:rect r="r" b="b" t="t" l="l"/>
              <a:pathLst>
                <a:path h="292728" w="812800">
                  <a:moveTo>
                    <a:pt x="127941" y="0"/>
                  </a:moveTo>
                  <a:lnTo>
                    <a:pt x="684859" y="0"/>
                  </a:lnTo>
                  <a:cubicBezTo>
                    <a:pt x="718791" y="0"/>
                    <a:pt x="751333" y="13479"/>
                    <a:pt x="775327" y="37473"/>
                  </a:cubicBezTo>
                  <a:cubicBezTo>
                    <a:pt x="799321" y="61467"/>
                    <a:pt x="812800" y="94009"/>
                    <a:pt x="812800" y="127941"/>
                  </a:cubicBezTo>
                  <a:lnTo>
                    <a:pt x="812800" y="164788"/>
                  </a:lnTo>
                  <a:cubicBezTo>
                    <a:pt x="812800" y="198720"/>
                    <a:pt x="799321" y="231262"/>
                    <a:pt x="775327" y="255255"/>
                  </a:cubicBezTo>
                  <a:cubicBezTo>
                    <a:pt x="751333" y="279249"/>
                    <a:pt x="718791" y="292728"/>
                    <a:pt x="684859" y="292728"/>
                  </a:cubicBezTo>
                  <a:lnTo>
                    <a:pt x="127941" y="292728"/>
                  </a:lnTo>
                  <a:cubicBezTo>
                    <a:pt x="94009" y="292728"/>
                    <a:pt x="61467" y="279249"/>
                    <a:pt x="37473" y="255255"/>
                  </a:cubicBezTo>
                  <a:cubicBezTo>
                    <a:pt x="13479" y="231262"/>
                    <a:pt x="0" y="198720"/>
                    <a:pt x="0" y="164788"/>
                  </a:cubicBezTo>
                  <a:lnTo>
                    <a:pt x="0" y="127941"/>
                  </a:lnTo>
                  <a:cubicBezTo>
                    <a:pt x="0" y="94009"/>
                    <a:pt x="13479" y="61467"/>
                    <a:pt x="37473" y="37473"/>
                  </a:cubicBezTo>
                  <a:cubicBezTo>
                    <a:pt x="61467" y="13479"/>
                    <a:pt x="94009" y="0"/>
                    <a:pt x="127941" y="0"/>
                  </a:cubicBezTo>
                  <a:close/>
                </a:path>
              </a:pathLst>
            </a:custGeom>
            <a:solidFill>
              <a:srgbClr val="FFDE59"/>
            </a:solidFill>
          </p:spPr>
        </p:sp>
        <p:sp>
          <p:nvSpPr>
            <p:cNvPr name="TextBox 24" id="24"/>
            <p:cNvSpPr txBox="true"/>
            <p:nvPr/>
          </p:nvSpPr>
          <p:spPr>
            <a:xfrm>
              <a:off x="0" y="-38100"/>
              <a:ext cx="812800" cy="330828"/>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7404997" y="4701586"/>
            <a:ext cx="3478005" cy="513715"/>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OBJETIVOS</a:t>
            </a:r>
          </a:p>
        </p:txBody>
      </p:sp>
      <p:grpSp>
        <p:nvGrpSpPr>
          <p:cNvPr name="Group 26" id="26"/>
          <p:cNvGrpSpPr/>
          <p:nvPr/>
        </p:nvGrpSpPr>
        <p:grpSpPr>
          <a:xfrm rot="0">
            <a:off x="11083028" y="4395378"/>
            <a:ext cx="3086100" cy="1111453"/>
            <a:chOff x="0" y="0"/>
            <a:chExt cx="812800" cy="292728"/>
          </a:xfrm>
        </p:grpSpPr>
        <p:sp>
          <p:nvSpPr>
            <p:cNvPr name="Freeform 27" id="27"/>
            <p:cNvSpPr/>
            <p:nvPr/>
          </p:nvSpPr>
          <p:spPr>
            <a:xfrm flipH="false" flipV="false" rot="0">
              <a:off x="0" y="0"/>
              <a:ext cx="812800" cy="292728"/>
            </a:xfrm>
            <a:custGeom>
              <a:avLst/>
              <a:gdLst/>
              <a:ahLst/>
              <a:cxnLst/>
              <a:rect r="r" b="b" t="t" l="l"/>
              <a:pathLst>
                <a:path h="292728" w="812800">
                  <a:moveTo>
                    <a:pt x="127941" y="0"/>
                  </a:moveTo>
                  <a:lnTo>
                    <a:pt x="684859" y="0"/>
                  </a:lnTo>
                  <a:cubicBezTo>
                    <a:pt x="718791" y="0"/>
                    <a:pt x="751333" y="13479"/>
                    <a:pt x="775327" y="37473"/>
                  </a:cubicBezTo>
                  <a:cubicBezTo>
                    <a:pt x="799321" y="61467"/>
                    <a:pt x="812800" y="94009"/>
                    <a:pt x="812800" y="127941"/>
                  </a:cubicBezTo>
                  <a:lnTo>
                    <a:pt x="812800" y="164788"/>
                  </a:lnTo>
                  <a:cubicBezTo>
                    <a:pt x="812800" y="198720"/>
                    <a:pt x="799321" y="231262"/>
                    <a:pt x="775327" y="255255"/>
                  </a:cubicBezTo>
                  <a:cubicBezTo>
                    <a:pt x="751333" y="279249"/>
                    <a:pt x="718791" y="292728"/>
                    <a:pt x="684859" y="292728"/>
                  </a:cubicBezTo>
                  <a:lnTo>
                    <a:pt x="127941" y="292728"/>
                  </a:lnTo>
                  <a:cubicBezTo>
                    <a:pt x="94009" y="292728"/>
                    <a:pt x="61467" y="279249"/>
                    <a:pt x="37473" y="255255"/>
                  </a:cubicBezTo>
                  <a:cubicBezTo>
                    <a:pt x="13479" y="231262"/>
                    <a:pt x="0" y="198720"/>
                    <a:pt x="0" y="164788"/>
                  </a:cubicBezTo>
                  <a:lnTo>
                    <a:pt x="0" y="127941"/>
                  </a:lnTo>
                  <a:cubicBezTo>
                    <a:pt x="0" y="94009"/>
                    <a:pt x="13479" y="61467"/>
                    <a:pt x="37473" y="37473"/>
                  </a:cubicBezTo>
                  <a:cubicBezTo>
                    <a:pt x="61467" y="13479"/>
                    <a:pt x="94009" y="0"/>
                    <a:pt x="127941" y="0"/>
                  </a:cubicBezTo>
                  <a:close/>
                </a:path>
              </a:pathLst>
            </a:custGeom>
            <a:solidFill>
              <a:srgbClr val="FF5757"/>
            </a:solidFill>
          </p:spPr>
        </p:sp>
        <p:sp>
          <p:nvSpPr>
            <p:cNvPr name="TextBox 28" id="28"/>
            <p:cNvSpPr txBox="true"/>
            <p:nvPr/>
          </p:nvSpPr>
          <p:spPr>
            <a:xfrm>
              <a:off x="0" y="-38100"/>
              <a:ext cx="812800" cy="330828"/>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0883003" y="4703754"/>
            <a:ext cx="3478005" cy="513715"/>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CONTEXTO</a:t>
            </a:r>
          </a:p>
        </p:txBody>
      </p:sp>
      <p:grpSp>
        <p:nvGrpSpPr>
          <p:cNvPr name="Group 30" id="30"/>
          <p:cNvGrpSpPr/>
          <p:nvPr/>
        </p:nvGrpSpPr>
        <p:grpSpPr>
          <a:xfrm rot="0">
            <a:off x="7684963" y="6073978"/>
            <a:ext cx="3086100" cy="1111453"/>
            <a:chOff x="0" y="0"/>
            <a:chExt cx="812800" cy="292728"/>
          </a:xfrm>
        </p:grpSpPr>
        <p:sp>
          <p:nvSpPr>
            <p:cNvPr name="Freeform 31" id="31"/>
            <p:cNvSpPr/>
            <p:nvPr/>
          </p:nvSpPr>
          <p:spPr>
            <a:xfrm flipH="false" flipV="false" rot="0">
              <a:off x="0" y="0"/>
              <a:ext cx="812800" cy="292728"/>
            </a:xfrm>
            <a:custGeom>
              <a:avLst/>
              <a:gdLst/>
              <a:ahLst/>
              <a:cxnLst/>
              <a:rect r="r" b="b" t="t" l="l"/>
              <a:pathLst>
                <a:path h="292728" w="812800">
                  <a:moveTo>
                    <a:pt x="127941" y="0"/>
                  </a:moveTo>
                  <a:lnTo>
                    <a:pt x="684859" y="0"/>
                  </a:lnTo>
                  <a:cubicBezTo>
                    <a:pt x="718791" y="0"/>
                    <a:pt x="751333" y="13479"/>
                    <a:pt x="775327" y="37473"/>
                  </a:cubicBezTo>
                  <a:cubicBezTo>
                    <a:pt x="799321" y="61467"/>
                    <a:pt x="812800" y="94009"/>
                    <a:pt x="812800" y="127941"/>
                  </a:cubicBezTo>
                  <a:lnTo>
                    <a:pt x="812800" y="164788"/>
                  </a:lnTo>
                  <a:cubicBezTo>
                    <a:pt x="812800" y="198720"/>
                    <a:pt x="799321" y="231262"/>
                    <a:pt x="775327" y="255255"/>
                  </a:cubicBezTo>
                  <a:cubicBezTo>
                    <a:pt x="751333" y="279249"/>
                    <a:pt x="718791" y="292728"/>
                    <a:pt x="684859" y="292728"/>
                  </a:cubicBezTo>
                  <a:lnTo>
                    <a:pt x="127941" y="292728"/>
                  </a:lnTo>
                  <a:cubicBezTo>
                    <a:pt x="94009" y="292728"/>
                    <a:pt x="61467" y="279249"/>
                    <a:pt x="37473" y="255255"/>
                  </a:cubicBezTo>
                  <a:cubicBezTo>
                    <a:pt x="13479" y="231262"/>
                    <a:pt x="0" y="198720"/>
                    <a:pt x="0" y="164788"/>
                  </a:cubicBezTo>
                  <a:lnTo>
                    <a:pt x="0" y="127941"/>
                  </a:lnTo>
                  <a:cubicBezTo>
                    <a:pt x="0" y="94009"/>
                    <a:pt x="13479" y="61467"/>
                    <a:pt x="37473" y="37473"/>
                  </a:cubicBezTo>
                  <a:cubicBezTo>
                    <a:pt x="61467" y="13479"/>
                    <a:pt x="94009" y="0"/>
                    <a:pt x="127941" y="0"/>
                  </a:cubicBezTo>
                  <a:close/>
                </a:path>
              </a:pathLst>
            </a:custGeom>
            <a:solidFill>
              <a:srgbClr val="FF5757"/>
            </a:solidFill>
          </p:spPr>
        </p:sp>
        <p:sp>
          <p:nvSpPr>
            <p:cNvPr name="TextBox 32" id="32"/>
            <p:cNvSpPr txBox="true"/>
            <p:nvPr/>
          </p:nvSpPr>
          <p:spPr>
            <a:xfrm>
              <a:off x="0" y="-38100"/>
              <a:ext cx="812800" cy="330828"/>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7605022" y="6420454"/>
            <a:ext cx="3478005" cy="513715"/>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ANALISIS</a:t>
            </a:r>
          </a:p>
        </p:txBody>
      </p:sp>
      <p:grpSp>
        <p:nvGrpSpPr>
          <p:cNvPr name="Group 34" id="34"/>
          <p:cNvGrpSpPr/>
          <p:nvPr/>
        </p:nvGrpSpPr>
        <p:grpSpPr>
          <a:xfrm rot="0">
            <a:off x="11199169" y="6060827"/>
            <a:ext cx="3152775" cy="1111453"/>
            <a:chOff x="0" y="0"/>
            <a:chExt cx="830360" cy="292728"/>
          </a:xfrm>
        </p:grpSpPr>
        <p:sp>
          <p:nvSpPr>
            <p:cNvPr name="Freeform 35" id="35"/>
            <p:cNvSpPr/>
            <p:nvPr/>
          </p:nvSpPr>
          <p:spPr>
            <a:xfrm flipH="false" flipV="false" rot="0">
              <a:off x="0" y="0"/>
              <a:ext cx="830360" cy="292728"/>
            </a:xfrm>
            <a:custGeom>
              <a:avLst/>
              <a:gdLst/>
              <a:ahLst/>
              <a:cxnLst/>
              <a:rect r="r" b="b" t="t" l="l"/>
              <a:pathLst>
                <a:path h="292728" w="830360">
                  <a:moveTo>
                    <a:pt x="125235" y="0"/>
                  </a:moveTo>
                  <a:lnTo>
                    <a:pt x="705125" y="0"/>
                  </a:lnTo>
                  <a:cubicBezTo>
                    <a:pt x="738340" y="0"/>
                    <a:pt x="770194" y="13194"/>
                    <a:pt x="793680" y="36680"/>
                  </a:cubicBezTo>
                  <a:cubicBezTo>
                    <a:pt x="817166" y="60167"/>
                    <a:pt x="830360" y="92021"/>
                    <a:pt x="830360" y="125235"/>
                  </a:cubicBezTo>
                  <a:lnTo>
                    <a:pt x="830360" y="167493"/>
                  </a:lnTo>
                  <a:cubicBezTo>
                    <a:pt x="830360" y="200708"/>
                    <a:pt x="817166" y="232562"/>
                    <a:pt x="793680" y="256048"/>
                  </a:cubicBezTo>
                  <a:cubicBezTo>
                    <a:pt x="770194" y="279534"/>
                    <a:pt x="738340" y="292728"/>
                    <a:pt x="705125" y="292728"/>
                  </a:cubicBezTo>
                  <a:lnTo>
                    <a:pt x="125235" y="292728"/>
                  </a:lnTo>
                  <a:cubicBezTo>
                    <a:pt x="56070" y="292728"/>
                    <a:pt x="0" y="236659"/>
                    <a:pt x="0" y="167493"/>
                  </a:cubicBezTo>
                  <a:lnTo>
                    <a:pt x="0" y="125235"/>
                  </a:lnTo>
                  <a:cubicBezTo>
                    <a:pt x="0" y="92021"/>
                    <a:pt x="13194" y="60167"/>
                    <a:pt x="36680" y="36680"/>
                  </a:cubicBezTo>
                  <a:cubicBezTo>
                    <a:pt x="60167" y="13194"/>
                    <a:pt x="92021" y="0"/>
                    <a:pt x="125235" y="0"/>
                  </a:cubicBezTo>
                  <a:close/>
                </a:path>
              </a:pathLst>
            </a:custGeom>
            <a:solidFill>
              <a:srgbClr val="FFDE59"/>
            </a:solidFill>
          </p:spPr>
        </p:sp>
        <p:sp>
          <p:nvSpPr>
            <p:cNvPr name="TextBox 36" id="36"/>
            <p:cNvSpPr txBox="true"/>
            <p:nvPr/>
          </p:nvSpPr>
          <p:spPr>
            <a:xfrm>
              <a:off x="0" y="-38100"/>
              <a:ext cx="830360" cy="330828"/>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1073964" y="6369202"/>
            <a:ext cx="3478005" cy="513715"/>
          </a:xfrm>
          <a:prstGeom prst="rect">
            <a:avLst/>
          </a:prstGeom>
        </p:spPr>
        <p:txBody>
          <a:bodyPr anchor="t" rtlCol="false" tIns="0" lIns="0" bIns="0" rIns="0">
            <a:spAutoFit/>
          </a:bodyPr>
          <a:lstStyle/>
          <a:p>
            <a:pPr algn="ctr">
              <a:lnSpc>
                <a:spcPts val="3679"/>
              </a:lnSpc>
            </a:pPr>
            <a:r>
              <a:rPr lang="en-US" sz="3999" spc="223">
                <a:solidFill>
                  <a:srgbClr val="022033"/>
                </a:solidFill>
                <a:latin typeface="Marykate"/>
                <a:ea typeface="Marykate"/>
                <a:cs typeface="Marykate"/>
                <a:sym typeface="Marykate"/>
              </a:rPr>
              <a:t>FLUJO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69177" y="889639"/>
            <a:ext cx="5246370" cy="52463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w="38100" cap="sq">
              <a:solidFill>
                <a:srgbClr val="000000"/>
              </a:solidFill>
              <a:prstDash val="solid"/>
              <a:miter/>
            </a:ln>
          </p:spPr>
        </p:sp>
      </p:grpSp>
      <p:sp>
        <p:nvSpPr>
          <p:cNvPr name="TextBox 4" id="4"/>
          <p:cNvSpPr txBox="true"/>
          <p:nvPr/>
        </p:nvSpPr>
        <p:spPr>
          <a:xfrm rot="0">
            <a:off x="2951288" y="7000765"/>
            <a:ext cx="8036347" cy="1944643"/>
          </a:xfrm>
          <a:prstGeom prst="rect">
            <a:avLst/>
          </a:prstGeom>
        </p:spPr>
        <p:txBody>
          <a:bodyPr anchor="t" rtlCol="false" tIns="0" lIns="0" bIns="0" rIns="0">
            <a:spAutoFit/>
          </a:bodyPr>
          <a:lstStyle/>
          <a:p>
            <a:pPr algn="ctr">
              <a:lnSpc>
                <a:spcPts val="12360"/>
              </a:lnSpc>
            </a:pPr>
            <a:r>
              <a:rPr lang="en-US" sz="13435">
                <a:solidFill>
                  <a:srgbClr val="000000"/>
                </a:solidFill>
                <a:latin typeface="Childling"/>
                <a:ea typeface="Childling"/>
                <a:cs typeface="Childling"/>
                <a:sym typeface="Childling"/>
              </a:rPr>
              <a:t>INTRODUCCIÓN</a:t>
            </a:r>
          </a:p>
        </p:txBody>
      </p:sp>
      <p:sp>
        <p:nvSpPr>
          <p:cNvPr name="Freeform 5" id="5"/>
          <p:cNvSpPr/>
          <p:nvPr/>
        </p:nvSpPr>
        <p:spPr>
          <a:xfrm flipH="false" flipV="false" rot="-9989756">
            <a:off x="-912176" y="8560424"/>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806484">
            <a:off x="-3174902" y="3100376"/>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137161">
            <a:off x="10633373" y="-241490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5775363">
            <a:off x="15316856" y="-112273"/>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700000">
            <a:off x="-1299851" y="-5507585"/>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2700000">
            <a:off x="14262865" y="459514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57651" y="1849719"/>
            <a:ext cx="814462" cy="6587563"/>
          </a:xfrm>
          <a:custGeom>
            <a:avLst/>
            <a:gdLst/>
            <a:ahLst/>
            <a:cxnLst/>
            <a:rect r="r" b="b" t="t" l="l"/>
            <a:pathLst>
              <a:path h="6587563" w="814462">
                <a:moveTo>
                  <a:pt x="0" y="0"/>
                </a:moveTo>
                <a:lnTo>
                  <a:pt x="814462" y="0"/>
                </a:lnTo>
                <a:lnTo>
                  <a:pt x="814462" y="6587562"/>
                </a:lnTo>
                <a:lnTo>
                  <a:pt x="0" y="6587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32524" y="3791122"/>
            <a:ext cx="9041483" cy="4472637"/>
          </a:xfrm>
          <a:prstGeom prst="rect">
            <a:avLst/>
          </a:prstGeom>
        </p:spPr>
        <p:txBody>
          <a:bodyPr anchor="t" rtlCol="false" tIns="0" lIns="0" bIns="0" rIns="0">
            <a:spAutoFit/>
          </a:bodyPr>
          <a:lstStyle/>
          <a:p>
            <a:pPr algn="l">
              <a:lnSpc>
                <a:spcPts val="5126"/>
              </a:lnSpc>
              <a:spcBef>
                <a:spcPct val="0"/>
              </a:spcBef>
            </a:pPr>
            <a:r>
              <a:rPr lang="en-US" sz="3661" spc="205">
                <a:solidFill>
                  <a:srgbClr val="022033"/>
                </a:solidFill>
                <a:latin typeface="Marykate"/>
                <a:ea typeface="Marykate"/>
                <a:cs typeface="Marykate"/>
                <a:sym typeface="Marykate"/>
              </a:rPr>
              <a:t>Este proyecto presenta el desarrollo de un sistema de conteo posicional universal, diseñado para operar dinámicamente. El software resuelve el problema del conteo propagando cíclicamente acarreos posicionales, emulando un odómetro digital. Cuenta con la capacidad de predecir y manejar «overflow».</a:t>
            </a:r>
          </a:p>
        </p:txBody>
      </p:sp>
      <p:sp>
        <p:nvSpPr>
          <p:cNvPr name="TextBox 4" id="4"/>
          <p:cNvSpPr txBox="true"/>
          <p:nvPr/>
        </p:nvSpPr>
        <p:spPr>
          <a:xfrm rot="0">
            <a:off x="7332524" y="2197218"/>
            <a:ext cx="7917861" cy="1679629"/>
          </a:xfrm>
          <a:prstGeom prst="rect">
            <a:avLst/>
          </a:prstGeom>
        </p:spPr>
        <p:txBody>
          <a:bodyPr anchor="t" rtlCol="false" tIns="0" lIns="0" bIns="0" rIns="0">
            <a:spAutoFit/>
          </a:bodyPr>
          <a:lstStyle/>
          <a:p>
            <a:pPr algn="l">
              <a:lnSpc>
                <a:spcPts val="10679"/>
              </a:lnSpc>
            </a:pPr>
            <a:r>
              <a:rPr lang="en-US" sz="11608">
                <a:solidFill>
                  <a:srgbClr val="022033"/>
                </a:solidFill>
                <a:latin typeface="Childling"/>
                <a:ea typeface="Childling"/>
                <a:cs typeface="Childling"/>
                <a:sym typeface="Childling"/>
              </a:rPr>
              <a:t>INTRODUCCIÓN</a:t>
            </a:r>
          </a:p>
        </p:txBody>
      </p:sp>
      <p:sp>
        <p:nvSpPr>
          <p:cNvPr name="Freeform 5" id="5"/>
          <p:cNvSpPr/>
          <p:nvPr/>
        </p:nvSpPr>
        <p:spPr>
          <a:xfrm flipH="false" flipV="false" rot="1137161">
            <a:off x="16140723" y="286129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333730">
            <a:off x="15530761" y="6751870"/>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45397">
            <a:off x="15523566" y="-3879341"/>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8"/>
            <a:stretch>
              <a:fillRect l="0" t="0" r="0" b="0"/>
            </a:stretch>
          </a:blipFill>
        </p:spPr>
      </p:sp>
      <p:sp>
        <p:nvSpPr>
          <p:cNvPr name="Freeform 8" id="8"/>
          <p:cNvSpPr/>
          <p:nvPr/>
        </p:nvSpPr>
        <p:spPr>
          <a:xfrm flipH="false" flipV="false" rot="5400000">
            <a:off x="9841823" y="-3604950"/>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459995">
            <a:off x="4581302" y="-2806779"/>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7491922">
            <a:off x="-2893486" y="-49870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6784072">
            <a:off x="-2971144" y="288749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459995">
            <a:off x="-1425658" y="7497003"/>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259001">
            <a:off x="3811502" y="82973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8"/>
            <a:stretch>
              <a:fillRect l="0" t="0" r="0" b="0"/>
            </a:stretch>
          </a:blipFill>
        </p:spPr>
      </p:sp>
      <p:sp>
        <p:nvSpPr>
          <p:cNvPr name="Freeform 14" id="14"/>
          <p:cNvSpPr/>
          <p:nvPr/>
        </p:nvSpPr>
        <p:spPr>
          <a:xfrm flipH="false" flipV="false" rot="6784072">
            <a:off x="8300863" y="9026402"/>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459995">
            <a:off x="10957599" y="869969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2341928" y="2813251"/>
            <a:ext cx="3426506" cy="4114800"/>
          </a:xfrm>
          <a:custGeom>
            <a:avLst/>
            <a:gdLst/>
            <a:ahLst/>
            <a:cxnLst/>
            <a:rect r="r" b="b" t="t" l="l"/>
            <a:pathLst>
              <a:path h="4114800" w="3426506">
                <a:moveTo>
                  <a:pt x="0" y="0"/>
                </a:moveTo>
                <a:lnTo>
                  <a:pt x="3426507" y="0"/>
                </a:lnTo>
                <a:lnTo>
                  <a:pt x="3426507"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1560" y="812905"/>
            <a:ext cx="14864881" cy="1679610"/>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OBJETIVO GENERAL</a:t>
            </a:r>
          </a:p>
        </p:txBody>
      </p:sp>
      <p:grpSp>
        <p:nvGrpSpPr>
          <p:cNvPr name="Group 3" id="3"/>
          <p:cNvGrpSpPr/>
          <p:nvPr/>
        </p:nvGrpSpPr>
        <p:grpSpPr>
          <a:xfrm rot="0">
            <a:off x="6105181" y="3645005"/>
            <a:ext cx="6077638" cy="3574997"/>
            <a:chOff x="0" y="0"/>
            <a:chExt cx="1341051" cy="788835"/>
          </a:xfrm>
        </p:grpSpPr>
        <p:sp>
          <p:nvSpPr>
            <p:cNvPr name="Freeform 4" id="4"/>
            <p:cNvSpPr/>
            <p:nvPr/>
          </p:nvSpPr>
          <p:spPr>
            <a:xfrm flipH="false" flipV="false" rot="0">
              <a:off x="0" y="0"/>
              <a:ext cx="1341051" cy="788835"/>
            </a:xfrm>
            <a:custGeom>
              <a:avLst/>
              <a:gdLst/>
              <a:ahLst/>
              <a:cxnLst/>
              <a:rect r="r" b="b" t="t" l="l"/>
              <a:pathLst>
                <a:path h="788835" w="1341051">
                  <a:moveTo>
                    <a:pt x="64966" y="0"/>
                  </a:moveTo>
                  <a:lnTo>
                    <a:pt x="1276085" y="0"/>
                  </a:lnTo>
                  <a:cubicBezTo>
                    <a:pt x="1293315" y="0"/>
                    <a:pt x="1309839" y="6845"/>
                    <a:pt x="1322023" y="19028"/>
                  </a:cubicBezTo>
                  <a:cubicBezTo>
                    <a:pt x="1334206" y="31211"/>
                    <a:pt x="1341051" y="47736"/>
                    <a:pt x="1341051" y="64966"/>
                  </a:cubicBezTo>
                  <a:lnTo>
                    <a:pt x="1341051" y="723869"/>
                  </a:lnTo>
                  <a:cubicBezTo>
                    <a:pt x="1341051" y="741099"/>
                    <a:pt x="1334206" y="757623"/>
                    <a:pt x="1322023" y="769807"/>
                  </a:cubicBezTo>
                  <a:cubicBezTo>
                    <a:pt x="1309839" y="781990"/>
                    <a:pt x="1293315" y="788835"/>
                    <a:pt x="1276085" y="788835"/>
                  </a:cubicBezTo>
                  <a:lnTo>
                    <a:pt x="64966" y="788835"/>
                  </a:lnTo>
                  <a:cubicBezTo>
                    <a:pt x="47736" y="788835"/>
                    <a:pt x="31211" y="781990"/>
                    <a:pt x="19028" y="769807"/>
                  </a:cubicBezTo>
                  <a:cubicBezTo>
                    <a:pt x="6845" y="757623"/>
                    <a:pt x="0" y="741099"/>
                    <a:pt x="0" y="723869"/>
                  </a:cubicBezTo>
                  <a:lnTo>
                    <a:pt x="0" y="64966"/>
                  </a:lnTo>
                  <a:cubicBezTo>
                    <a:pt x="0" y="47736"/>
                    <a:pt x="6845" y="31211"/>
                    <a:pt x="19028" y="19028"/>
                  </a:cubicBezTo>
                  <a:cubicBezTo>
                    <a:pt x="31211" y="6845"/>
                    <a:pt x="47736" y="0"/>
                    <a:pt x="64966" y="0"/>
                  </a:cubicBezTo>
                  <a:close/>
                </a:path>
              </a:pathLst>
            </a:custGeom>
            <a:solidFill>
              <a:srgbClr val="FFDE59"/>
            </a:solidFill>
          </p:spPr>
        </p:sp>
        <p:sp>
          <p:nvSpPr>
            <p:cNvPr name="TextBox 5" id="5"/>
            <p:cNvSpPr txBox="true"/>
            <p:nvPr/>
          </p:nvSpPr>
          <p:spPr>
            <a:xfrm>
              <a:off x="0" y="-38100"/>
              <a:ext cx="1341051" cy="82693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446109" y="4749380"/>
            <a:ext cx="5395783" cy="2321129"/>
          </a:xfrm>
          <a:prstGeom prst="rect">
            <a:avLst/>
          </a:prstGeom>
        </p:spPr>
        <p:txBody>
          <a:bodyPr anchor="t" rtlCol="false" tIns="0" lIns="0" bIns="0" rIns="0">
            <a:spAutoFit/>
          </a:bodyPr>
          <a:lstStyle/>
          <a:p>
            <a:pPr algn="ctr">
              <a:lnSpc>
                <a:spcPts val="3676"/>
              </a:lnSpc>
              <a:spcBef>
                <a:spcPct val="0"/>
              </a:spcBef>
            </a:pPr>
            <a:r>
              <a:rPr lang="en-US" sz="2625" spc="147">
                <a:solidFill>
                  <a:srgbClr val="022033"/>
                </a:solidFill>
                <a:latin typeface="Marykate"/>
                <a:ea typeface="Marykate"/>
                <a:cs typeface="Marykate"/>
                <a:sym typeface="Marykate"/>
              </a:rPr>
              <a:t>Desarrollar un sistema de conteo posicional universal, en bases 2 a 64, capaz de auditar su propia capacidad, detectar y gestionar overflows y convertir a bases de destino</a:t>
            </a:r>
          </a:p>
        </p:txBody>
      </p:sp>
      <p:sp>
        <p:nvSpPr>
          <p:cNvPr name="TextBox 7" id="7"/>
          <p:cNvSpPr txBox="true"/>
          <p:nvPr/>
        </p:nvSpPr>
        <p:spPr>
          <a:xfrm rot="0">
            <a:off x="6699357" y="3858914"/>
            <a:ext cx="4889285" cy="772822"/>
          </a:xfrm>
          <a:prstGeom prst="rect">
            <a:avLst/>
          </a:prstGeom>
        </p:spPr>
        <p:txBody>
          <a:bodyPr anchor="t" rtlCol="false" tIns="0" lIns="0" bIns="0" rIns="0">
            <a:spAutoFit/>
          </a:bodyPr>
          <a:lstStyle/>
          <a:p>
            <a:pPr algn="ctr">
              <a:lnSpc>
                <a:spcPts val="6282"/>
              </a:lnSpc>
              <a:spcBef>
                <a:spcPct val="0"/>
              </a:spcBef>
            </a:pPr>
            <a:r>
              <a:rPr lang="en-US" sz="4487" spc="251">
                <a:solidFill>
                  <a:srgbClr val="022033"/>
                </a:solidFill>
                <a:latin typeface="Marykate"/>
                <a:ea typeface="Marykate"/>
                <a:cs typeface="Marykate"/>
                <a:sym typeface="Marykate"/>
              </a:rPr>
              <a:t>OBJETIVO GENERAL</a:t>
            </a:r>
          </a:p>
        </p:txBody>
      </p:sp>
      <p:sp>
        <p:nvSpPr>
          <p:cNvPr name="Freeform 8" id="8"/>
          <p:cNvSpPr/>
          <p:nvPr/>
        </p:nvSpPr>
        <p:spPr>
          <a:xfrm flipH="false" flipV="false" rot="7491922">
            <a:off x="-3415034" y="-4294567"/>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9" id="9"/>
          <p:cNvSpPr/>
          <p:nvPr/>
        </p:nvSpPr>
        <p:spPr>
          <a:xfrm flipH="false" flipV="false" rot="-10491939">
            <a:off x="15610956" y="370100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10" id="10"/>
          <p:cNvSpPr/>
          <p:nvPr/>
        </p:nvSpPr>
        <p:spPr>
          <a:xfrm flipH="false" flipV="false" rot="5400000">
            <a:off x="14223439" y="-2437961"/>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2601628" y="3763338"/>
            <a:ext cx="5942288" cy="4757155"/>
          </a:xfrm>
          <a:custGeom>
            <a:avLst/>
            <a:gdLst/>
            <a:ahLst/>
            <a:cxnLst/>
            <a:rect r="r" b="b" t="t" l="l"/>
            <a:pathLst>
              <a:path h="4757155" w="5942288">
                <a:moveTo>
                  <a:pt x="0" y="0"/>
                </a:moveTo>
                <a:lnTo>
                  <a:pt x="5942289" y="0"/>
                </a:lnTo>
                <a:lnTo>
                  <a:pt x="5942289" y="4757155"/>
                </a:lnTo>
                <a:lnTo>
                  <a:pt x="0" y="47571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24204" y="6325967"/>
            <a:ext cx="5091803" cy="2697894"/>
            <a:chOff x="0" y="0"/>
            <a:chExt cx="1341051" cy="710556"/>
          </a:xfrm>
        </p:grpSpPr>
        <p:sp>
          <p:nvSpPr>
            <p:cNvPr name="Freeform 3" id="3"/>
            <p:cNvSpPr/>
            <p:nvPr/>
          </p:nvSpPr>
          <p:spPr>
            <a:xfrm flipH="false" flipV="false" rot="0">
              <a:off x="0" y="0"/>
              <a:ext cx="1341051" cy="710556"/>
            </a:xfrm>
            <a:custGeom>
              <a:avLst/>
              <a:gdLst/>
              <a:ahLst/>
              <a:cxnLst/>
              <a:rect r="r" b="b" t="t" l="l"/>
              <a:pathLst>
                <a:path h="710556" w="1341051">
                  <a:moveTo>
                    <a:pt x="77544" y="0"/>
                  </a:moveTo>
                  <a:lnTo>
                    <a:pt x="1263507" y="0"/>
                  </a:lnTo>
                  <a:cubicBezTo>
                    <a:pt x="1284073" y="0"/>
                    <a:pt x="1303797" y="8170"/>
                    <a:pt x="1318339" y="22712"/>
                  </a:cubicBezTo>
                  <a:cubicBezTo>
                    <a:pt x="1332881" y="37254"/>
                    <a:pt x="1341051" y="56978"/>
                    <a:pt x="1341051" y="77544"/>
                  </a:cubicBezTo>
                  <a:lnTo>
                    <a:pt x="1341051" y="633012"/>
                  </a:lnTo>
                  <a:cubicBezTo>
                    <a:pt x="1341051" y="675839"/>
                    <a:pt x="1306333" y="710556"/>
                    <a:pt x="1263507" y="710556"/>
                  </a:cubicBezTo>
                  <a:lnTo>
                    <a:pt x="77544" y="710556"/>
                  </a:lnTo>
                  <a:cubicBezTo>
                    <a:pt x="56978" y="710556"/>
                    <a:pt x="37254" y="702387"/>
                    <a:pt x="22712" y="687844"/>
                  </a:cubicBezTo>
                  <a:cubicBezTo>
                    <a:pt x="8170" y="673302"/>
                    <a:pt x="0" y="653578"/>
                    <a:pt x="0" y="633012"/>
                  </a:cubicBezTo>
                  <a:lnTo>
                    <a:pt x="0" y="77544"/>
                  </a:lnTo>
                  <a:cubicBezTo>
                    <a:pt x="0" y="34718"/>
                    <a:pt x="34718" y="0"/>
                    <a:pt x="77544" y="0"/>
                  </a:cubicBezTo>
                  <a:close/>
                </a:path>
              </a:pathLst>
            </a:custGeom>
            <a:solidFill>
              <a:srgbClr val="FF5757"/>
            </a:solidFill>
          </p:spPr>
        </p:sp>
        <p:sp>
          <p:nvSpPr>
            <p:cNvPr name="TextBox 4" id="4"/>
            <p:cNvSpPr txBox="true"/>
            <p:nvPr/>
          </p:nvSpPr>
          <p:spPr>
            <a:xfrm>
              <a:off x="0" y="-38100"/>
              <a:ext cx="1341051" cy="74865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009830" y="6483654"/>
            <a:ext cx="4520549" cy="2334895"/>
          </a:xfrm>
          <a:prstGeom prst="rect">
            <a:avLst/>
          </a:prstGeom>
        </p:spPr>
        <p:txBody>
          <a:bodyPr anchor="t" rtlCol="false" tIns="0" lIns="0" bIns="0" rIns="0">
            <a:spAutoFit/>
          </a:bodyPr>
          <a:lstStyle/>
          <a:p>
            <a:pPr algn="ctr">
              <a:lnSpc>
                <a:spcPts val="3079"/>
              </a:lnSpc>
              <a:spcBef>
                <a:spcPct val="0"/>
              </a:spcBef>
            </a:pPr>
            <a:r>
              <a:rPr lang="en-US" sz="2199" spc="123">
                <a:solidFill>
                  <a:srgbClr val="022033"/>
                </a:solidFill>
                <a:latin typeface="Marykate"/>
                <a:ea typeface="Marykate"/>
                <a:cs typeface="Marykate"/>
                <a:sym typeface="Marykate"/>
              </a:rPr>
              <a:t>Aut</a:t>
            </a:r>
            <a:r>
              <a:rPr lang="en-US" sz="2199" spc="123">
                <a:solidFill>
                  <a:srgbClr val="022033"/>
                </a:solidFill>
                <a:latin typeface="Marykate"/>
                <a:ea typeface="Marykate"/>
                <a:cs typeface="Marykate"/>
                <a:sym typeface="Marykate"/>
              </a:rPr>
              <a:t>omatizar el proceso de conversión mediante divisiones sucesivas, extrayendo cocientes y residuos para mapear el resultado final a una base de destino arbitraria (B) con su respectiva validación</a:t>
            </a:r>
          </a:p>
        </p:txBody>
      </p:sp>
      <p:grpSp>
        <p:nvGrpSpPr>
          <p:cNvPr name="Group 6" id="6"/>
          <p:cNvGrpSpPr/>
          <p:nvPr/>
        </p:nvGrpSpPr>
        <p:grpSpPr>
          <a:xfrm rot="0">
            <a:off x="9724204" y="2911760"/>
            <a:ext cx="5091803" cy="2697894"/>
            <a:chOff x="0" y="0"/>
            <a:chExt cx="1341051" cy="710556"/>
          </a:xfrm>
        </p:grpSpPr>
        <p:sp>
          <p:nvSpPr>
            <p:cNvPr name="Freeform 7" id="7"/>
            <p:cNvSpPr/>
            <p:nvPr/>
          </p:nvSpPr>
          <p:spPr>
            <a:xfrm flipH="false" flipV="false" rot="0">
              <a:off x="0" y="0"/>
              <a:ext cx="1341051" cy="710556"/>
            </a:xfrm>
            <a:custGeom>
              <a:avLst/>
              <a:gdLst/>
              <a:ahLst/>
              <a:cxnLst/>
              <a:rect r="r" b="b" t="t" l="l"/>
              <a:pathLst>
                <a:path h="710556" w="1341051">
                  <a:moveTo>
                    <a:pt x="77544" y="0"/>
                  </a:moveTo>
                  <a:lnTo>
                    <a:pt x="1263507" y="0"/>
                  </a:lnTo>
                  <a:cubicBezTo>
                    <a:pt x="1284073" y="0"/>
                    <a:pt x="1303797" y="8170"/>
                    <a:pt x="1318339" y="22712"/>
                  </a:cubicBezTo>
                  <a:cubicBezTo>
                    <a:pt x="1332881" y="37254"/>
                    <a:pt x="1341051" y="56978"/>
                    <a:pt x="1341051" y="77544"/>
                  </a:cubicBezTo>
                  <a:lnTo>
                    <a:pt x="1341051" y="633012"/>
                  </a:lnTo>
                  <a:cubicBezTo>
                    <a:pt x="1341051" y="675839"/>
                    <a:pt x="1306333" y="710556"/>
                    <a:pt x="1263507" y="710556"/>
                  </a:cubicBezTo>
                  <a:lnTo>
                    <a:pt x="77544" y="710556"/>
                  </a:lnTo>
                  <a:cubicBezTo>
                    <a:pt x="56978" y="710556"/>
                    <a:pt x="37254" y="702387"/>
                    <a:pt x="22712" y="687844"/>
                  </a:cubicBezTo>
                  <a:cubicBezTo>
                    <a:pt x="8170" y="673302"/>
                    <a:pt x="0" y="653578"/>
                    <a:pt x="0" y="633012"/>
                  </a:cubicBezTo>
                  <a:lnTo>
                    <a:pt x="0" y="77544"/>
                  </a:lnTo>
                  <a:cubicBezTo>
                    <a:pt x="0" y="34718"/>
                    <a:pt x="34718" y="0"/>
                    <a:pt x="77544" y="0"/>
                  </a:cubicBezTo>
                  <a:close/>
                </a:path>
              </a:pathLst>
            </a:custGeom>
            <a:solidFill>
              <a:srgbClr val="FFBD59"/>
            </a:solidFill>
          </p:spPr>
        </p:sp>
        <p:sp>
          <p:nvSpPr>
            <p:cNvPr name="TextBox 8" id="8"/>
            <p:cNvSpPr txBox="true"/>
            <p:nvPr/>
          </p:nvSpPr>
          <p:spPr>
            <a:xfrm>
              <a:off x="0" y="-38100"/>
              <a:ext cx="1341051" cy="748656"/>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009830" y="3123146"/>
            <a:ext cx="4520549" cy="2334895"/>
          </a:xfrm>
          <a:prstGeom prst="rect">
            <a:avLst/>
          </a:prstGeom>
        </p:spPr>
        <p:txBody>
          <a:bodyPr anchor="t" rtlCol="false" tIns="0" lIns="0" bIns="0" rIns="0">
            <a:spAutoFit/>
          </a:bodyPr>
          <a:lstStyle/>
          <a:p>
            <a:pPr algn="ctr">
              <a:lnSpc>
                <a:spcPts val="3079"/>
              </a:lnSpc>
              <a:spcBef>
                <a:spcPct val="0"/>
              </a:spcBef>
            </a:pPr>
            <a:r>
              <a:rPr lang="en-US" sz="2199" spc="123">
                <a:solidFill>
                  <a:srgbClr val="022033"/>
                </a:solidFill>
                <a:latin typeface="Marykate"/>
                <a:ea typeface="Marykate"/>
                <a:cs typeface="Marykate"/>
                <a:sym typeface="Marykate"/>
              </a:rPr>
              <a:t>Impl</a:t>
            </a:r>
            <a:r>
              <a:rPr lang="en-US" sz="2199" spc="123">
                <a:solidFill>
                  <a:srgbClr val="022033"/>
                </a:solidFill>
                <a:latin typeface="Marykate"/>
                <a:ea typeface="Marykate"/>
                <a:cs typeface="Marykate"/>
                <a:sym typeface="Marykate"/>
              </a:rPr>
              <a:t>ementar un algoritmo de detección y adaptación de overflow utilizando la función techo del logaritmo para dimensionar preventivamente la cantidad de digitos ante cargas elevadas de conteo.</a:t>
            </a:r>
          </a:p>
        </p:txBody>
      </p:sp>
      <p:grpSp>
        <p:nvGrpSpPr>
          <p:cNvPr name="Group 10" id="10"/>
          <p:cNvGrpSpPr/>
          <p:nvPr/>
        </p:nvGrpSpPr>
        <p:grpSpPr>
          <a:xfrm rot="0">
            <a:off x="3471994" y="6325967"/>
            <a:ext cx="5091803" cy="2697894"/>
            <a:chOff x="0" y="0"/>
            <a:chExt cx="1341051" cy="710556"/>
          </a:xfrm>
        </p:grpSpPr>
        <p:sp>
          <p:nvSpPr>
            <p:cNvPr name="Freeform 11" id="11"/>
            <p:cNvSpPr/>
            <p:nvPr/>
          </p:nvSpPr>
          <p:spPr>
            <a:xfrm flipH="false" flipV="false" rot="0">
              <a:off x="0" y="0"/>
              <a:ext cx="1341051" cy="710556"/>
            </a:xfrm>
            <a:custGeom>
              <a:avLst/>
              <a:gdLst/>
              <a:ahLst/>
              <a:cxnLst/>
              <a:rect r="r" b="b" t="t" l="l"/>
              <a:pathLst>
                <a:path h="710556" w="1341051">
                  <a:moveTo>
                    <a:pt x="77544" y="0"/>
                  </a:moveTo>
                  <a:lnTo>
                    <a:pt x="1263507" y="0"/>
                  </a:lnTo>
                  <a:cubicBezTo>
                    <a:pt x="1284073" y="0"/>
                    <a:pt x="1303797" y="8170"/>
                    <a:pt x="1318339" y="22712"/>
                  </a:cubicBezTo>
                  <a:cubicBezTo>
                    <a:pt x="1332881" y="37254"/>
                    <a:pt x="1341051" y="56978"/>
                    <a:pt x="1341051" y="77544"/>
                  </a:cubicBezTo>
                  <a:lnTo>
                    <a:pt x="1341051" y="633012"/>
                  </a:lnTo>
                  <a:cubicBezTo>
                    <a:pt x="1341051" y="675839"/>
                    <a:pt x="1306333" y="710556"/>
                    <a:pt x="1263507" y="710556"/>
                  </a:cubicBezTo>
                  <a:lnTo>
                    <a:pt x="77544" y="710556"/>
                  </a:lnTo>
                  <a:cubicBezTo>
                    <a:pt x="56978" y="710556"/>
                    <a:pt x="37254" y="702387"/>
                    <a:pt x="22712" y="687844"/>
                  </a:cubicBezTo>
                  <a:cubicBezTo>
                    <a:pt x="8170" y="673302"/>
                    <a:pt x="0" y="653578"/>
                    <a:pt x="0" y="633012"/>
                  </a:cubicBezTo>
                  <a:lnTo>
                    <a:pt x="0" y="77544"/>
                  </a:lnTo>
                  <a:cubicBezTo>
                    <a:pt x="0" y="34718"/>
                    <a:pt x="34718" y="0"/>
                    <a:pt x="77544" y="0"/>
                  </a:cubicBezTo>
                  <a:close/>
                </a:path>
              </a:pathLst>
            </a:custGeom>
            <a:solidFill>
              <a:srgbClr val="FFBD59"/>
            </a:solidFill>
          </p:spPr>
        </p:sp>
        <p:sp>
          <p:nvSpPr>
            <p:cNvPr name="TextBox 12" id="12"/>
            <p:cNvSpPr txBox="true"/>
            <p:nvPr/>
          </p:nvSpPr>
          <p:spPr>
            <a:xfrm>
              <a:off x="0" y="-38100"/>
              <a:ext cx="1341051" cy="74865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757621" y="6483654"/>
            <a:ext cx="4520549" cy="2334895"/>
          </a:xfrm>
          <a:prstGeom prst="rect">
            <a:avLst/>
          </a:prstGeom>
        </p:spPr>
        <p:txBody>
          <a:bodyPr anchor="t" rtlCol="false" tIns="0" lIns="0" bIns="0" rIns="0">
            <a:spAutoFit/>
          </a:bodyPr>
          <a:lstStyle/>
          <a:p>
            <a:pPr algn="ctr">
              <a:lnSpc>
                <a:spcPts val="3079"/>
              </a:lnSpc>
              <a:spcBef>
                <a:spcPct val="0"/>
              </a:spcBef>
            </a:pPr>
            <a:r>
              <a:rPr lang="en-US" sz="2199" spc="123">
                <a:solidFill>
                  <a:srgbClr val="022033"/>
                </a:solidFill>
                <a:latin typeface="Marykate"/>
                <a:ea typeface="Marykate"/>
                <a:cs typeface="Marykate"/>
                <a:sym typeface="Marykate"/>
              </a:rPr>
              <a:t>Aut</a:t>
            </a:r>
            <a:r>
              <a:rPr lang="en-US" sz="2199" spc="123">
                <a:solidFill>
                  <a:srgbClr val="022033"/>
                </a:solidFill>
                <a:latin typeface="Marykate"/>
                <a:ea typeface="Marykate"/>
                <a:cs typeface="Marykate"/>
                <a:sym typeface="Marykate"/>
              </a:rPr>
              <a:t>omatizar el proceso de conversión mediante divisiones sucesivas, extrayendo cocientes y residuos para mapear el resultado final a una base de destino arbitraria (B) con su respectiva validación</a:t>
            </a:r>
          </a:p>
        </p:txBody>
      </p:sp>
      <p:grpSp>
        <p:nvGrpSpPr>
          <p:cNvPr name="Group 14" id="14"/>
          <p:cNvGrpSpPr/>
          <p:nvPr/>
        </p:nvGrpSpPr>
        <p:grpSpPr>
          <a:xfrm rot="0">
            <a:off x="3471994" y="2911760"/>
            <a:ext cx="5091803" cy="2995107"/>
            <a:chOff x="0" y="0"/>
            <a:chExt cx="1341051" cy="788835"/>
          </a:xfrm>
        </p:grpSpPr>
        <p:sp>
          <p:nvSpPr>
            <p:cNvPr name="Freeform 15" id="15"/>
            <p:cNvSpPr/>
            <p:nvPr/>
          </p:nvSpPr>
          <p:spPr>
            <a:xfrm flipH="false" flipV="false" rot="0">
              <a:off x="0" y="0"/>
              <a:ext cx="1341051" cy="788835"/>
            </a:xfrm>
            <a:custGeom>
              <a:avLst/>
              <a:gdLst/>
              <a:ahLst/>
              <a:cxnLst/>
              <a:rect r="r" b="b" t="t" l="l"/>
              <a:pathLst>
                <a:path h="788835" w="1341051">
                  <a:moveTo>
                    <a:pt x="77544" y="0"/>
                  </a:moveTo>
                  <a:lnTo>
                    <a:pt x="1263507" y="0"/>
                  </a:lnTo>
                  <a:cubicBezTo>
                    <a:pt x="1284073" y="0"/>
                    <a:pt x="1303797" y="8170"/>
                    <a:pt x="1318339" y="22712"/>
                  </a:cubicBezTo>
                  <a:cubicBezTo>
                    <a:pt x="1332881" y="37254"/>
                    <a:pt x="1341051" y="56978"/>
                    <a:pt x="1341051" y="77544"/>
                  </a:cubicBezTo>
                  <a:lnTo>
                    <a:pt x="1341051" y="711291"/>
                  </a:lnTo>
                  <a:cubicBezTo>
                    <a:pt x="1341051" y="754117"/>
                    <a:pt x="1306333" y="788835"/>
                    <a:pt x="1263507" y="788835"/>
                  </a:cubicBezTo>
                  <a:lnTo>
                    <a:pt x="77544" y="788835"/>
                  </a:lnTo>
                  <a:cubicBezTo>
                    <a:pt x="34718" y="788835"/>
                    <a:pt x="0" y="754117"/>
                    <a:pt x="0" y="711291"/>
                  </a:cubicBezTo>
                  <a:lnTo>
                    <a:pt x="0" y="77544"/>
                  </a:lnTo>
                  <a:cubicBezTo>
                    <a:pt x="0" y="34718"/>
                    <a:pt x="34718" y="0"/>
                    <a:pt x="77544" y="0"/>
                  </a:cubicBezTo>
                  <a:close/>
                </a:path>
              </a:pathLst>
            </a:custGeom>
            <a:solidFill>
              <a:srgbClr val="FF5757"/>
            </a:solidFill>
          </p:spPr>
        </p:sp>
        <p:sp>
          <p:nvSpPr>
            <p:cNvPr name="TextBox 16" id="16"/>
            <p:cNvSpPr txBox="true"/>
            <p:nvPr/>
          </p:nvSpPr>
          <p:spPr>
            <a:xfrm>
              <a:off x="0" y="-38100"/>
              <a:ext cx="1341051" cy="82693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757621" y="3406979"/>
            <a:ext cx="4520549" cy="1944370"/>
          </a:xfrm>
          <a:prstGeom prst="rect">
            <a:avLst/>
          </a:prstGeom>
        </p:spPr>
        <p:txBody>
          <a:bodyPr anchor="t" rtlCol="false" tIns="0" lIns="0" bIns="0" rIns="0">
            <a:spAutoFit/>
          </a:bodyPr>
          <a:lstStyle/>
          <a:p>
            <a:pPr algn="ctr">
              <a:lnSpc>
                <a:spcPts val="3079"/>
              </a:lnSpc>
              <a:spcBef>
                <a:spcPct val="0"/>
              </a:spcBef>
            </a:pPr>
            <a:r>
              <a:rPr lang="en-US" sz="2199" spc="123">
                <a:solidFill>
                  <a:srgbClr val="022033"/>
                </a:solidFill>
                <a:latin typeface="Marykate"/>
                <a:ea typeface="Marykate"/>
                <a:cs typeface="Marykate"/>
                <a:sym typeface="Marykate"/>
              </a:rPr>
              <a:t>G</a:t>
            </a:r>
            <a:r>
              <a:rPr lang="en-US" sz="2199" spc="123">
                <a:solidFill>
                  <a:srgbClr val="022033"/>
                </a:solidFill>
                <a:latin typeface="Marykate"/>
                <a:ea typeface="Marykate"/>
                <a:cs typeface="Marykate"/>
                <a:sym typeface="Marykate"/>
              </a:rPr>
              <a:t>enerar dinámicamente un alfabeto ampliado de 64 símbolos utilizando códigos ASCII y Unicode (incluyendo dígitos, letras mayúsculas, minúsculas y caracteres especiales como la Ñ y ñ).</a:t>
            </a:r>
          </a:p>
        </p:txBody>
      </p:sp>
      <p:sp>
        <p:nvSpPr>
          <p:cNvPr name="Freeform 18" id="18"/>
          <p:cNvSpPr/>
          <p:nvPr/>
        </p:nvSpPr>
        <p:spPr>
          <a:xfrm flipH="false" flipV="false" rot="7491922">
            <a:off x="-3415034" y="-4294567"/>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19" id="19"/>
          <p:cNvSpPr/>
          <p:nvPr/>
        </p:nvSpPr>
        <p:spPr>
          <a:xfrm flipH="false" flipV="false" rot="-10491939">
            <a:off x="15610956" y="370100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20" id="20"/>
          <p:cNvSpPr/>
          <p:nvPr/>
        </p:nvSpPr>
        <p:spPr>
          <a:xfrm flipH="false" flipV="false" rot="5400000">
            <a:off x="14223439" y="-2437961"/>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711560" y="812905"/>
            <a:ext cx="14864881" cy="1679629"/>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OBJETIVOS ESPECIFICOS</a:t>
            </a:r>
          </a:p>
        </p:txBody>
      </p:sp>
      <p:sp>
        <p:nvSpPr>
          <p:cNvPr name="Freeform 22" id="22"/>
          <p:cNvSpPr/>
          <p:nvPr/>
        </p:nvSpPr>
        <p:spPr>
          <a:xfrm flipH="false" flipV="false" rot="5400000">
            <a:off x="-2601628" y="3763338"/>
            <a:ext cx="5942288" cy="4757155"/>
          </a:xfrm>
          <a:custGeom>
            <a:avLst/>
            <a:gdLst/>
            <a:ahLst/>
            <a:cxnLst/>
            <a:rect r="r" b="b" t="t" l="l"/>
            <a:pathLst>
              <a:path h="4757155" w="5942288">
                <a:moveTo>
                  <a:pt x="0" y="0"/>
                </a:moveTo>
                <a:lnTo>
                  <a:pt x="5942289" y="0"/>
                </a:lnTo>
                <a:lnTo>
                  <a:pt x="5942289" y="4757155"/>
                </a:lnTo>
                <a:lnTo>
                  <a:pt x="0" y="47571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4072">
            <a:off x="-2971144" y="288749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59995">
            <a:off x="-1975167" y="7847038"/>
            <a:ext cx="6007735" cy="4809549"/>
          </a:xfrm>
          <a:custGeom>
            <a:avLst/>
            <a:gdLst/>
            <a:ahLst/>
            <a:cxnLst/>
            <a:rect r="r" b="b" t="t" l="l"/>
            <a:pathLst>
              <a:path h="4809549" w="6007735">
                <a:moveTo>
                  <a:pt x="0" y="0"/>
                </a:moveTo>
                <a:lnTo>
                  <a:pt x="6007734" y="0"/>
                </a:lnTo>
                <a:lnTo>
                  <a:pt x="6007734"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59001">
            <a:off x="3811502" y="82973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grpSp>
        <p:nvGrpSpPr>
          <p:cNvPr name="Group 5" id="5"/>
          <p:cNvGrpSpPr/>
          <p:nvPr/>
        </p:nvGrpSpPr>
        <p:grpSpPr>
          <a:xfrm rot="0">
            <a:off x="3355166" y="4053931"/>
            <a:ext cx="11577669" cy="4098942"/>
            <a:chOff x="0" y="0"/>
            <a:chExt cx="3049263" cy="1079557"/>
          </a:xfrm>
        </p:grpSpPr>
        <p:sp>
          <p:nvSpPr>
            <p:cNvPr name="Freeform 6" id="6"/>
            <p:cNvSpPr/>
            <p:nvPr/>
          </p:nvSpPr>
          <p:spPr>
            <a:xfrm flipH="false" flipV="false" rot="0">
              <a:off x="0" y="0"/>
              <a:ext cx="3049263" cy="1079557"/>
            </a:xfrm>
            <a:custGeom>
              <a:avLst/>
              <a:gdLst/>
              <a:ahLst/>
              <a:cxnLst/>
              <a:rect r="r" b="b" t="t" l="l"/>
              <a:pathLst>
                <a:path h="1079557" w="3049263">
                  <a:moveTo>
                    <a:pt x="23404" y="0"/>
                  </a:moveTo>
                  <a:lnTo>
                    <a:pt x="3025858" y="0"/>
                  </a:lnTo>
                  <a:cubicBezTo>
                    <a:pt x="3032066" y="0"/>
                    <a:pt x="3038018" y="2466"/>
                    <a:pt x="3042408" y="6855"/>
                  </a:cubicBezTo>
                  <a:cubicBezTo>
                    <a:pt x="3046797" y="11244"/>
                    <a:pt x="3049263" y="17197"/>
                    <a:pt x="3049263" y="23404"/>
                  </a:cubicBezTo>
                  <a:lnTo>
                    <a:pt x="3049263" y="1056152"/>
                  </a:lnTo>
                  <a:cubicBezTo>
                    <a:pt x="3049263" y="1062360"/>
                    <a:pt x="3046797" y="1068313"/>
                    <a:pt x="3042408" y="1072702"/>
                  </a:cubicBezTo>
                  <a:cubicBezTo>
                    <a:pt x="3038018" y="1077091"/>
                    <a:pt x="3032066" y="1079557"/>
                    <a:pt x="3025858" y="1079557"/>
                  </a:cubicBezTo>
                  <a:lnTo>
                    <a:pt x="23404" y="1079557"/>
                  </a:lnTo>
                  <a:cubicBezTo>
                    <a:pt x="17197" y="1079557"/>
                    <a:pt x="11244" y="1077091"/>
                    <a:pt x="6855" y="1072702"/>
                  </a:cubicBezTo>
                  <a:cubicBezTo>
                    <a:pt x="2466" y="1068313"/>
                    <a:pt x="0" y="1062360"/>
                    <a:pt x="0" y="1056152"/>
                  </a:cubicBezTo>
                  <a:lnTo>
                    <a:pt x="0" y="23404"/>
                  </a:lnTo>
                  <a:cubicBezTo>
                    <a:pt x="0" y="17197"/>
                    <a:pt x="2466" y="11244"/>
                    <a:pt x="6855" y="6855"/>
                  </a:cubicBezTo>
                  <a:cubicBezTo>
                    <a:pt x="11244" y="2466"/>
                    <a:pt x="17197" y="0"/>
                    <a:pt x="23404" y="0"/>
                  </a:cubicBezTo>
                  <a:close/>
                </a:path>
              </a:pathLst>
            </a:custGeom>
            <a:solidFill>
              <a:srgbClr val="FFBD59"/>
            </a:solidFill>
          </p:spPr>
        </p:sp>
        <p:sp>
          <p:nvSpPr>
            <p:cNvPr name="TextBox 7" id="7"/>
            <p:cNvSpPr txBox="true"/>
            <p:nvPr/>
          </p:nvSpPr>
          <p:spPr>
            <a:xfrm>
              <a:off x="0" y="-38100"/>
              <a:ext cx="3049263" cy="111765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5456869" y="1112235"/>
            <a:ext cx="7374262" cy="1679610"/>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CONTEXTO</a:t>
            </a:r>
          </a:p>
        </p:txBody>
      </p:sp>
      <p:sp>
        <p:nvSpPr>
          <p:cNvPr name="TextBox 9" id="9"/>
          <p:cNvSpPr txBox="true"/>
          <p:nvPr/>
        </p:nvSpPr>
        <p:spPr>
          <a:xfrm rot="0">
            <a:off x="3937287" y="4812013"/>
            <a:ext cx="10413426" cy="1844676"/>
          </a:xfrm>
          <a:prstGeom prst="rect">
            <a:avLst/>
          </a:prstGeom>
        </p:spPr>
        <p:txBody>
          <a:bodyPr anchor="t" rtlCol="false" tIns="0" lIns="0" bIns="0" rIns="0">
            <a:spAutoFit/>
          </a:bodyPr>
          <a:lstStyle/>
          <a:p>
            <a:pPr algn="ctr">
              <a:lnSpc>
                <a:spcPts val="4899"/>
              </a:lnSpc>
              <a:spcBef>
                <a:spcPct val="0"/>
              </a:spcBef>
            </a:pPr>
            <a:r>
              <a:rPr lang="en-US" sz="3499" spc="195">
                <a:solidFill>
                  <a:srgbClr val="022033"/>
                </a:solidFill>
                <a:latin typeface="Marykate"/>
                <a:ea typeface="Marykate"/>
                <a:cs typeface="Marykate"/>
                <a:sym typeface="Marykate"/>
              </a:rPr>
              <a:t>Los sistemas de numeración posicional determinan el valor de cada dígito según su ubicación, operando mediante potencias de la base N</a:t>
            </a:r>
          </a:p>
        </p:txBody>
      </p:sp>
      <p:sp>
        <p:nvSpPr>
          <p:cNvPr name="TextBox 10" id="10"/>
          <p:cNvSpPr txBox="true"/>
          <p:nvPr/>
        </p:nvSpPr>
        <p:spPr>
          <a:xfrm rot="0">
            <a:off x="6082133" y="2909519"/>
            <a:ext cx="6123734" cy="598275"/>
          </a:xfrm>
          <a:prstGeom prst="rect">
            <a:avLst/>
          </a:prstGeom>
        </p:spPr>
        <p:txBody>
          <a:bodyPr anchor="t" rtlCol="false" tIns="0" lIns="0" bIns="0" rIns="0">
            <a:spAutoFit/>
          </a:bodyPr>
          <a:lstStyle/>
          <a:p>
            <a:pPr algn="ctr">
              <a:lnSpc>
                <a:spcPts val="4840"/>
              </a:lnSpc>
              <a:spcBef>
                <a:spcPct val="0"/>
              </a:spcBef>
            </a:pPr>
            <a:r>
              <a:rPr lang="en-US" sz="3457" spc="193">
                <a:solidFill>
                  <a:srgbClr val="022033"/>
                </a:solidFill>
                <a:latin typeface="Marykate"/>
                <a:ea typeface="Marykate"/>
                <a:cs typeface="Marykate"/>
                <a:sym typeface="Marykate"/>
              </a:rPr>
              <a:t>GENERALIDADES Y CONCEPTOS</a:t>
            </a:r>
          </a:p>
        </p:txBody>
      </p:sp>
      <p:sp>
        <p:nvSpPr>
          <p:cNvPr name="Freeform 11" id="11"/>
          <p:cNvSpPr/>
          <p:nvPr/>
        </p:nvSpPr>
        <p:spPr>
          <a:xfrm flipH="false" flipV="false" rot="7491922">
            <a:off x="13638276" y="-368727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2" id="12"/>
          <p:cNvSpPr/>
          <p:nvPr/>
        </p:nvSpPr>
        <p:spPr>
          <a:xfrm flipH="false" flipV="false" rot="6784072">
            <a:off x="15316856" y="407883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937287" y="6634125"/>
            <a:ext cx="10413426" cy="1109346"/>
          </a:xfrm>
          <a:prstGeom prst="rect">
            <a:avLst/>
          </a:prstGeom>
        </p:spPr>
        <p:txBody>
          <a:bodyPr anchor="t" rtlCol="false" tIns="0" lIns="0" bIns="0" rIns="0">
            <a:spAutoFit/>
          </a:bodyPr>
          <a:lstStyle/>
          <a:p>
            <a:pPr algn="ctr">
              <a:lnSpc>
                <a:spcPts val="4479"/>
              </a:lnSpc>
              <a:spcBef>
                <a:spcPct val="0"/>
              </a:spcBef>
            </a:pPr>
            <a:r>
              <a:rPr lang="en-US" sz="3199" spc="179">
                <a:solidFill>
                  <a:srgbClr val="022033"/>
                </a:solidFill>
                <a:latin typeface="Marykate"/>
                <a:ea typeface="Marykate"/>
                <a:cs typeface="Marykate"/>
                <a:sym typeface="Marykate"/>
              </a:rPr>
              <a:t>El m</a:t>
            </a:r>
            <a:r>
              <a:rPr lang="en-US" sz="3199" spc="179">
                <a:solidFill>
                  <a:srgbClr val="022033"/>
                </a:solidFill>
                <a:latin typeface="Marykate"/>
                <a:ea typeface="Marykate"/>
                <a:cs typeface="Marykate"/>
                <a:sym typeface="Marykate"/>
              </a:rPr>
              <a:t>odelo está diseñado para generalizar el conteo en cualquier rango flexible, abarcando desde la base 2 hasta la 64. </a:t>
            </a:r>
          </a:p>
        </p:txBody>
      </p:sp>
      <p:sp>
        <p:nvSpPr>
          <p:cNvPr name="TextBox 14" id="14"/>
          <p:cNvSpPr txBox="true"/>
          <p:nvPr/>
        </p:nvSpPr>
        <p:spPr>
          <a:xfrm rot="0">
            <a:off x="3937287" y="4104621"/>
            <a:ext cx="10413426" cy="840107"/>
          </a:xfrm>
          <a:prstGeom prst="rect">
            <a:avLst/>
          </a:prstGeom>
        </p:spPr>
        <p:txBody>
          <a:bodyPr anchor="t" rtlCol="false" tIns="0" lIns="0" bIns="0" rIns="0">
            <a:spAutoFit/>
          </a:bodyPr>
          <a:lstStyle/>
          <a:p>
            <a:pPr algn="ctr">
              <a:lnSpc>
                <a:spcPts val="6719"/>
              </a:lnSpc>
              <a:spcBef>
                <a:spcPct val="0"/>
              </a:spcBef>
            </a:pPr>
            <a:r>
              <a:rPr lang="en-US" sz="4799" spc="268">
                <a:solidFill>
                  <a:srgbClr val="022033"/>
                </a:solidFill>
                <a:latin typeface="Marykate"/>
                <a:ea typeface="Marykate"/>
                <a:cs typeface="Marykate"/>
                <a:sym typeface="Marykate"/>
              </a:rPr>
              <a:t>C</a:t>
            </a:r>
            <a:r>
              <a:rPr lang="en-US" sz="4799" spc="268">
                <a:solidFill>
                  <a:srgbClr val="022033"/>
                </a:solidFill>
                <a:latin typeface="Marykate"/>
                <a:ea typeface="Marykate"/>
                <a:cs typeface="Marykate"/>
                <a:sym typeface="Marykate"/>
              </a:rPr>
              <a:t>oncepto de Base N: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4072">
            <a:off x="-2971144" y="288749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59995">
            <a:off x="-1975167" y="7847038"/>
            <a:ext cx="6007735" cy="4809549"/>
          </a:xfrm>
          <a:custGeom>
            <a:avLst/>
            <a:gdLst/>
            <a:ahLst/>
            <a:cxnLst/>
            <a:rect r="r" b="b" t="t" l="l"/>
            <a:pathLst>
              <a:path h="4809549" w="6007735">
                <a:moveTo>
                  <a:pt x="0" y="0"/>
                </a:moveTo>
                <a:lnTo>
                  <a:pt x="6007734" y="0"/>
                </a:lnTo>
                <a:lnTo>
                  <a:pt x="6007734"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59001">
            <a:off x="3811502" y="82973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grpSp>
        <p:nvGrpSpPr>
          <p:cNvPr name="Group 5" id="5"/>
          <p:cNvGrpSpPr/>
          <p:nvPr/>
        </p:nvGrpSpPr>
        <p:grpSpPr>
          <a:xfrm rot="0">
            <a:off x="3355166" y="2902387"/>
            <a:ext cx="11580287" cy="5696812"/>
            <a:chOff x="0" y="0"/>
            <a:chExt cx="3049952" cy="1500395"/>
          </a:xfrm>
        </p:grpSpPr>
        <p:sp>
          <p:nvSpPr>
            <p:cNvPr name="Freeform 6" id="6"/>
            <p:cNvSpPr/>
            <p:nvPr/>
          </p:nvSpPr>
          <p:spPr>
            <a:xfrm flipH="false" flipV="false" rot="0">
              <a:off x="0" y="0"/>
              <a:ext cx="3049952" cy="1500395"/>
            </a:xfrm>
            <a:custGeom>
              <a:avLst/>
              <a:gdLst/>
              <a:ahLst/>
              <a:cxnLst/>
              <a:rect r="r" b="b" t="t" l="l"/>
              <a:pathLst>
                <a:path h="1500395" w="3049952">
                  <a:moveTo>
                    <a:pt x="23399" y="0"/>
                  </a:moveTo>
                  <a:lnTo>
                    <a:pt x="3026553" y="0"/>
                  </a:lnTo>
                  <a:cubicBezTo>
                    <a:pt x="3039476" y="0"/>
                    <a:pt x="3049952" y="10476"/>
                    <a:pt x="3049952" y="23399"/>
                  </a:cubicBezTo>
                  <a:lnTo>
                    <a:pt x="3049952" y="1476996"/>
                  </a:lnTo>
                  <a:cubicBezTo>
                    <a:pt x="3049952" y="1489919"/>
                    <a:pt x="3039476" y="1500395"/>
                    <a:pt x="3026553" y="1500395"/>
                  </a:cubicBezTo>
                  <a:lnTo>
                    <a:pt x="23399" y="1500395"/>
                  </a:lnTo>
                  <a:cubicBezTo>
                    <a:pt x="10476" y="1500395"/>
                    <a:pt x="0" y="1489919"/>
                    <a:pt x="0" y="1476996"/>
                  </a:cubicBezTo>
                  <a:lnTo>
                    <a:pt x="0" y="23399"/>
                  </a:lnTo>
                  <a:cubicBezTo>
                    <a:pt x="0" y="10476"/>
                    <a:pt x="10476" y="0"/>
                    <a:pt x="23399" y="0"/>
                  </a:cubicBezTo>
                  <a:close/>
                </a:path>
              </a:pathLst>
            </a:custGeom>
            <a:solidFill>
              <a:srgbClr val="FFBD59"/>
            </a:solidFill>
          </p:spPr>
        </p:sp>
        <p:sp>
          <p:nvSpPr>
            <p:cNvPr name="TextBox 7" id="7"/>
            <p:cNvSpPr txBox="true"/>
            <p:nvPr/>
          </p:nvSpPr>
          <p:spPr>
            <a:xfrm>
              <a:off x="0" y="-38100"/>
              <a:ext cx="3049952" cy="153849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5458178" y="513251"/>
            <a:ext cx="7374262" cy="1679610"/>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CONTEXTO</a:t>
            </a:r>
          </a:p>
        </p:txBody>
      </p:sp>
      <p:sp>
        <p:nvSpPr>
          <p:cNvPr name="TextBox 9" id="9"/>
          <p:cNvSpPr txBox="true"/>
          <p:nvPr/>
        </p:nvSpPr>
        <p:spPr>
          <a:xfrm rot="0">
            <a:off x="3937287" y="3660469"/>
            <a:ext cx="10413426" cy="1790066"/>
          </a:xfrm>
          <a:prstGeom prst="rect">
            <a:avLst/>
          </a:prstGeom>
        </p:spPr>
        <p:txBody>
          <a:bodyPr anchor="t" rtlCol="false" tIns="0" lIns="0" bIns="0" rIns="0">
            <a:spAutoFit/>
          </a:bodyPr>
          <a:lstStyle/>
          <a:p>
            <a:pPr algn="ctr">
              <a:lnSpc>
                <a:spcPts val="4759"/>
              </a:lnSpc>
              <a:spcBef>
                <a:spcPct val="0"/>
              </a:spcBef>
            </a:pPr>
            <a:r>
              <a:rPr lang="en-US" sz="3399" spc="190">
                <a:solidFill>
                  <a:srgbClr val="022033"/>
                </a:solidFill>
                <a:latin typeface="Marykate"/>
                <a:ea typeface="Marykate"/>
                <a:cs typeface="Marykate"/>
                <a:sym typeface="Marykate"/>
              </a:rPr>
              <a:t>Al</a:t>
            </a:r>
            <a:r>
              <a:rPr lang="en-US" sz="3399" spc="190">
                <a:solidFill>
                  <a:srgbClr val="022033"/>
                </a:solidFill>
                <a:latin typeface="Marykate"/>
                <a:ea typeface="Marykate"/>
                <a:cs typeface="Marykate"/>
                <a:sym typeface="Marykate"/>
              </a:rPr>
              <a:t> superar la base 10, los dígitos numéricos convencionales dejan de ser suficientes para representar cada estado individual de una casilla</a:t>
            </a:r>
          </a:p>
        </p:txBody>
      </p:sp>
      <p:sp>
        <p:nvSpPr>
          <p:cNvPr name="TextBox 10" id="10"/>
          <p:cNvSpPr txBox="true"/>
          <p:nvPr/>
        </p:nvSpPr>
        <p:spPr>
          <a:xfrm rot="0">
            <a:off x="6082133" y="1855624"/>
            <a:ext cx="6123734" cy="598275"/>
          </a:xfrm>
          <a:prstGeom prst="rect">
            <a:avLst/>
          </a:prstGeom>
        </p:spPr>
        <p:txBody>
          <a:bodyPr anchor="t" rtlCol="false" tIns="0" lIns="0" bIns="0" rIns="0">
            <a:spAutoFit/>
          </a:bodyPr>
          <a:lstStyle/>
          <a:p>
            <a:pPr algn="ctr">
              <a:lnSpc>
                <a:spcPts val="4840"/>
              </a:lnSpc>
              <a:spcBef>
                <a:spcPct val="0"/>
              </a:spcBef>
            </a:pPr>
            <a:r>
              <a:rPr lang="en-US" sz="3457" spc="193">
                <a:solidFill>
                  <a:srgbClr val="022033"/>
                </a:solidFill>
                <a:latin typeface="Marykate"/>
                <a:ea typeface="Marykate"/>
                <a:cs typeface="Marykate"/>
                <a:sym typeface="Marykate"/>
              </a:rPr>
              <a:t>GENERALIDADES Y CONCEPTOS</a:t>
            </a:r>
          </a:p>
        </p:txBody>
      </p:sp>
      <p:sp>
        <p:nvSpPr>
          <p:cNvPr name="Freeform 11" id="11"/>
          <p:cNvSpPr/>
          <p:nvPr/>
        </p:nvSpPr>
        <p:spPr>
          <a:xfrm flipH="false" flipV="false" rot="7491922">
            <a:off x="13638276" y="-368727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2" id="12"/>
          <p:cNvSpPr/>
          <p:nvPr/>
        </p:nvSpPr>
        <p:spPr>
          <a:xfrm flipH="false" flipV="false" rot="6784072">
            <a:off x="15316856" y="407883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937287" y="5482581"/>
            <a:ext cx="10413426" cy="2795271"/>
          </a:xfrm>
          <a:prstGeom prst="rect">
            <a:avLst/>
          </a:prstGeom>
        </p:spPr>
        <p:txBody>
          <a:bodyPr anchor="t" rtlCol="false" tIns="0" lIns="0" bIns="0" rIns="0">
            <a:spAutoFit/>
          </a:bodyPr>
          <a:lstStyle/>
          <a:p>
            <a:pPr algn="ctr">
              <a:lnSpc>
                <a:spcPts val="4479"/>
              </a:lnSpc>
              <a:spcBef>
                <a:spcPct val="0"/>
              </a:spcBef>
            </a:pPr>
            <a:r>
              <a:rPr lang="en-US" sz="3199" spc="179">
                <a:solidFill>
                  <a:srgbClr val="022033"/>
                </a:solidFill>
                <a:latin typeface="Marykate"/>
                <a:ea typeface="Marykate"/>
                <a:cs typeface="Marykate"/>
                <a:sym typeface="Marykate"/>
              </a:rPr>
              <a:t>Para</a:t>
            </a:r>
            <a:r>
              <a:rPr lang="en-US" sz="3199" spc="179">
                <a:solidFill>
                  <a:srgbClr val="022033"/>
                </a:solidFill>
                <a:latin typeface="Marykate"/>
                <a:ea typeface="Marykate"/>
                <a:cs typeface="Marykate"/>
                <a:sym typeface="Marykate"/>
              </a:rPr>
              <a:t> solucionar esto, el sistema genera automáticamente un alfabeto ampliado de 64 caracteres utilizando rangos de códigos ASCII y Unicode: incluye los dígitos del 0 al 9, las letras mayúsculas de la A a la Z, las minúsculas de la a a la z, y caracteres especiales como la Ñ y la ñ. </a:t>
            </a:r>
          </a:p>
        </p:txBody>
      </p:sp>
      <p:sp>
        <p:nvSpPr>
          <p:cNvPr name="TextBox 14" id="14"/>
          <p:cNvSpPr txBox="true"/>
          <p:nvPr/>
        </p:nvSpPr>
        <p:spPr>
          <a:xfrm rot="0">
            <a:off x="3937287" y="2953077"/>
            <a:ext cx="10413426" cy="840107"/>
          </a:xfrm>
          <a:prstGeom prst="rect">
            <a:avLst/>
          </a:prstGeom>
        </p:spPr>
        <p:txBody>
          <a:bodyPr anchor="t" rtlCol="false" tIns="0" lIns="0" bIns="0" rIns="0">
            <a:spAutoFit/>
          </a:bodyPr>
          <a:lstStyle/>
          <a:p>
            <a:pPr algn="ctr">
              <a:lnSpc>
                <a:spcPts val="6719"/>
              </a:lnSpc>
              <a:spcBef>
                <a:spcPct val="0"/>
              </a:spcBef>
            </a:pPr>
            <a:r>
              <a:rPr lang="en-US" sz="4799" spc="268">
                <a:solidFill>
                  <a:srgbClr val="022033"/>
                </a:solidFill>
                <a:latin typeface="Marykate"/>
                <a:ea typeface="Marykate"/>
                <a:cs typeface="Marykate"/>
                <a:sym typeface="Marykate"/>
              </a:rPr>
              <a:t>El Alfab</a:t>
            </a:r>
            <a:r>
              <a:rPr lang="en-US" sz="4799" spc="268">
                <a:solidFill>
                  <a:srgbClr val="022033"/>
                </a:solidFill>
                <a:latin typeface="Marykate"/>
                <a:ea typeface="Marykate"/>
                <a:cs typeface="Marykate"/>
                <a:sym typeface="Marykate"/>
              </a:rPr>
              <a:t>eto (Símbolos Mayores a Base 10):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4072">
            <a:off x="-2971144" y="288749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59995">
            <a:off x="-1975167" y="7847038"/>
            <a:ext cx="6007735" cy="4809549"/>
          </a:xfrm>
          <a:custGeom>
            <a:avLst/>
            <a:gdLst/>
            <a:ahLst/>
            <a:cxnLst/>
            <a:rect r="r" b="b" t="t" l="l"/>
            <a:pathLst>
              <a:path h="4809549" w="6007735">
                <a:moveTo>
                  <a:pt x="0" y="0"/>
                </a:moveTo>
                <a:lnTo>
                  <a:pt x="6007734" y="0"/>
                </a:lnTo>
                <a:lnTo>
                  <a:pt x="6007734"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59001">
            <a:off x="3811502" y="8297380"/>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grpSp>
        <p:nvGrpSpPr>
          <p:cNvPr name="Group 5" id="5"/>
          <p:cNvGrpSpPr/>
          <p:nvPr/>
        </p:nvGrpSpPr>
        <p:grpSpPr>
          <a:xfrm rot="0">
            <a:off x="3355166" y="2902387"/>
            <a:ext cx="11580287" cy="5696812"/>
            <a:chOff x="0" y="0"/>
            <a:chExt cx="3049952" cy="1500395"/>
          </a:xfrm>
        </p:grpSpPr>
        <p:sp>
          <p:nvSpPr>
            <p:cNvPr name="Freeform 6" id="6"/>
            <p:cNvSpPr/>
            <p:nvPr/>
          </p:nvSpPr>
          <p:spPr>
            <a:xfrm flipH="false" flipV="false" rot="0">
              <a:off x="0" y="0"/>
              <a:ext cx="3049952" cy="1500395"/>
            </a:xfrm>
            <a:custGeom>
              <a:avLst/>
              <a:gdLst/>
              <a:ahLst/>
              <a:cxnLst/>
              <a:rect r="r" b="b" t="t" l="l"/>
              <a:pathLst>
                <a:path h="1500395" w="3049952">
                  <a:moveTo>
                    <a:pt x="23399" y="0"/>
                  </a:moveTo>
                  <a:lnTo>
                    <a:pt x="3026553" y="0"/>
                  </a:lnTo>
                  <a:cubicBezTo>
                    <a:pt x="3039476" y="0"/>
                    <a:pt x="3049952" y="10476"/>
                    <a:pt x="3049952" y="23399"/>
                  </a:cubicBezTo>
                  <a:lnTo>
                    <a:pt x="3049952" y="1476996"/>
                  </a:lnTo>
                  <a:cubicBezTo>
                    <a:pt x="3049952" y="1489919"/>
                    <a:pt x="3039476" y="1500395"/>
                    <a:pt x="3026553" y="1500395"/>
                  </a:cubicBezTo>
                  <a:lnTo>
                    <a:pt x="23399" y="1500395"/>
                  </a:lnTo>
                  <a:cubicBezTo>
                    <a:pt x="10476" y="1500395"/>
                    <a:pt x="0" y="1489919"/>
                    <a:pt x="0" y="1476996"/>
                  </a:cubicBezTo>
                  <a:lnTo>
                    <a:pt x="0" y="23399"/>
                  </a:lnTo>
                  <a:cubicBezTo>
                    <a:pt x="0" y="10476"/>
                    <a:pt x="10476" y="0"/>
                    <a:pt x="23399" y="0"/>
                  </a:cubicBezTo>
                  <a:close/>
                </a:path>
              </a:pathLst>
            </a:custGeom>
            <a:solidFill>
              <a:srgbClr val="FFBD59"/>
            </a:solidFill>
          </p:spPr>
        </p:sp>
        <p:sp>
          <p:nvSpPr>
            <p:cNvPr name="TextBox 7" id="7"/>
            <p:cNvSpPr txBox="true"/>
            <p:nvPr/>
          </p:nvSpPr>
          <p:spPr>
            <a:xfrm>
              <a:off x="0" y="-38100"/>
              <a:ext cx="3049952" cy="153849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5458178" y="513251"/>
            <a:ext cx="7374262" cy="1679610"/>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CONTEXTO</a:t>
            </a:r>
          </a:p>
        </p:txBody>
      </p:sp>
      <p:sp>
        <p:nvSpPr>
          <p:cNvPr name="TextBox 9" id="9"/>
          <p:cNvSpPr txBox="true"/>
          <p:nvPr/>
        </p:nvSpPr>
        <p:spPr>
          <a:xfrm rot="0">
            <a:off x="3938596" y="4021614"/>
            <a:ext cx="10413426" cy="1189991"/>
          </a:xfrm>
          <a:prstGeom prst="rect">
            <a:avLst/>
          </a:prstGeom>
        </p:spPr>
        <p:txBody>
          <a:bodyPr anchor="t" rtlCol="false" tIns="0" lIns="0" bIns="0" rIns="0">
            <a:spAutoFit/>
          </a:bodyPr>
          <a:lstStyle/>
          <a:p>
            <a:pPr algn="ctr">
              <a:lnSpc>
                <a:spcPts val="4759"/>
              </a:lnSpc>
              <a:spcBef>
                <a:spcPct val="0"/>
              </a:spcBef>
            </a:pPr>
            <a:r>
              <a:rPr lang="en-US" sz="3399" spc="190">
                <a:solidFill>
                  <a:srgbClr val="022033"/>
                </a:solidFill>
                <a:latin typeface="Marykate"/>
                <a:ea typeface="Marykate"/>
                <a:cs typeface="Marykate"/>
                <a:sym typeface="Marykate"/>
              </a:rPr>
              <a:t>E</a:t>
            </a:r>
            <a:r>
              <a:rPr lang="en-US" sz="3399" spc="190">
                <a:solidFill>
                  <a:srgbClr val="022033"/>
                </a:solidFill>
                <a:latin typeface="Marykate"/>
                <a:ea typeface="Marykate"/>
                <a:cs typeface="Marykate"/>
                <a:sym typeface="Marykate"/>
              </a:rPr>
              <a:t>l sistema opera conceptualmente igual al cuentakilómetros análogo de un vehículo.</a:t>
            </a:r>
          </a:p>
        </p:txBody>
      </p:sp>
      <p:sp>
        <p:nvSpPr>
          <p:cNvPr name="TextBox 10" id="10"/>
          <p:cNvSpPr txBox="true"/>
          <p:nvPr/>
        </p:nvSpPr>
        <p:spPr>
          <a:xfrm rot="0">
            <a:off x="6082133" y="1855624"/>
            <a:ext cx="6123734" cy="598275"/>
          </a:xfrm>
          <a:prstGeom prst="rect">
            <a:avLst/>
          </a:prstGeom>
        </p:spPr>
        <p:txBody>
          <a:bodyPr anchor="t" rtlCol="false" tIns="0" lIns="0" bIns="0" rIns="0">
            <a:spAutoFit/>
          </a:bodyPr>
          <a:lstStyle/>
          <a:p>
            <a:pPr algn="ctr">
              <a:lnSpc>
                <a:spcPts val="4840"/>
              </a:lnSpc>
              <a:spcBef>
                <a:spcPct val="0"/>
              </a:spcBef>
            </a:pPr>
            <a:r>
              <a:rPr lang="en-US" sz="3457" spc="193">
                <a:solidFill>
                  <a:srgbClr val="022033"/>
                </a:solidFill>
                <a:latin typeface="Marykate"/>
                <a:ea typeface="Marykate"/>
                <a:cs typeface="Marykate"/>
                <a:sym typeface="Marykate"/>
              </a:rPr>
              <a:t>GENERALIDADES Y CONCEPTOS</a:t>
            </a:r>
          </a:p>
        </p:txBody>
      </p:sp>
      <p:sp>
        <p:nvSpPr>
          <p:cNvPr name="Freeform 11" id="11"/>
          <p:cNvSpPr/>
          <p:nvPr/>
        </p:nvSpPr>
        <p:spPr>
          <a:xfrm flipH="false" flipV="false" rot="7491922">
            <a:off x="13638276" y="-368727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2" id="12"/>
          <p:cNvSpPr/>
          <p:nvPr/>
        </p:nvSpPr>
        <p:spPr>
          <a:xfrm flipH="false" flipV="false" rot="6784072">
            <a:off x="15316856" y="407883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937287" y="5482581"/>
            <a:ext cx="10413426" cy="2795271"/>
          </a:xfrm>
          <a:prstGeom prst="rect">
            <a:avLst/>
          </a:prstGeom>
        </p:spPr>
        <p:txBody>
          <a:bodyPr anchor="t" rtlCol="false" tIns="0" lIns="0" bIns="0" rIns="0">
            <a:spAutoFit/>
          </a:bodyPr>
          <a:lstStyle/>
          <a:p>
            <a:pPr algn="ctr">
              <a:lnSpc>
                <a:spcPts val="4479"/>
              </a:lnSpc>
              <a:spcBef>
                <a:spcPct val="0"/>
              </a:spcBef>
            </a:pPr>
            <a:r>
              <a:rPr lang="en-US" sz="3199" spc="179">
                <a:solidFill>
                  <a:srgbClr val="022033"/>
                </a:solidFill>
                <a:latin typeface="Marykate"/>
                <a:ea typeface="Marykate"/>
                <a:cs typeface="Marykate"/>
                <a:sym typeface="Marykate"/>
              </a:rPr>
              <a:t>C</a:t>
            </a:r>
            <a:r>
              <a:rPr lang="en-US" sz="3199" spc="179">
                <a:solidFill>
                  <a:srgbClr val="022033"/>
                </a:solidFill>
                <a:latin typeface="Marykate"/>
                <a:ea typeface="Marykate"/>
                <a:cs typeface="Marykate"/>
                <a:sym typeface="Marykate"/>
              </a:rPr>
              <a:t>onsiste en casillas independientes que van incrementando su valor de manera secuencial; cuando una casilla alcanza el límite máximo permitido por la base $N$, se reinicia automáticamente a cero y transfiere un acarreo posicional al dígito vecino de la izquierda.</a:t>
            </a:r>
          </a:p>
        </p:txBody>
      </p:sp>
      <p:sp>
        <p:nvSpPr>
          <p:cNvPr name="TextBox 14" id="14"/>
          <p:cNvSpPr txBox="true"/>
          <p:nvPr/>
        </p:nvSpPr>
        <p:spPr>
          <a:xfrm rot="0">
            <a:off x="3355166" y="2962602"/>
            <a:ext cx="11580287" cy="797562"/>
          </a:xfrm>
          <a:prstGeom prst="rect">
            <a:avLst/>
          </a:prstGeom>
        </p:spPr>
        <p:txBody>
          <a:bodyPr anchor="t" rtlCol="false" tIns="0" lIns="0" bIns="0" rIns="0">
            <a:spAutoFit/>
          </a:bodyPr>
          <a:lstStyle/>
          <a:p>
            <a:pPr algn="ctr">
              <a:lnSpc>
                <a:spcPts val="6439"/>
              </a:lnSpc>
              <a:spcBef>
                <a:spcPct val="0"/>
              </a:spcBef>
            </a:pPr>
            <a:r>
              <a:rPr lang="en-US" sz="4599" spc="257">
                <a:solidFill>
                  <a:srgbClr val="022033"/>
                </a:solidFill>
                <a:latin typeface="Marykate"/>
                <a:ea typeface="Marykate"/>
                <a:cs typeface="Marykate"/>
                <a:sym typeface="Marykate"/>
              </a:rPr>
              <a:t>La</a:t>
            </a:r>
            <a:r>
              <a:rPr lang="en-US" sz="4599" spc="257">
                <a:solidFill>
                  <a:srgbClr val="022033"/>
                </a:solidFill>
                <a:latin typeface="Marykate"/>
                <a:ea typeface="Marykate"/>
                <a:cs typeface="Marykate"/>
                <a:sym typeface="Marykate"/>
              </a:rPr>
              <a:t> Analogía del Hardware (El Odómetro Mecánico):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75186" y="1988627"/>
            <a:ext cx="4337628" cy="43376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1755" t="0" r="-31755" b="0"/>
              </a:stretch>
            </a:blipFill>
            <a:ln w="38100" cap="sq">
              <a:solidFill>
                <a:srgbClr val="000000"/>
              </a:solidFill>
              <a:prstDash val="solid"/>
              <a:miter/>
            </a:ln>
          </p:spPr>
        </p:sp>
      </p:grpSp>
      <p:sp>
        <p:nvSpPr>
          <p:cNvPr name="Freeform 4" id="4"/>
          <p:cNvSpPr/>
          <p:nvPr/>
        </p:nvSpPr>
        <p:spPr>
          <a:xfrm flipH="false" flipV="false" rot="-7910484">
            <a:off x="-495162" y="7935975"/>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806484">
            <a:off x="-3174902" y="3100376"/>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137161">
            <a:off x="11071276" y="-3108299"/>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4333730">
            <a:off x="15635070" y="-90841"/>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700000">
            <a:off x="-1883985" y="-538241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7"/>
            <a:stretch>
              <a:fillRect l="0" t="0" r="0" b="0"/>
            </a:stretch>
          </a:blipFill>
        </p:spPr>
      </p:sp>
      <p:sp>
        <p:nvSpPr>
          <p:cNvPr name="Freeform 9" id="9"/>
          <p:cNvSpPr/>
          <p:nvPr/>
        </p:nvSpPr>
        <p:spPr>
          <a:xfrm flipH="false" flipV="false" rot="2700000">
            <a:off x="15458638" y="459514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7"/>
            <a:stretch>
              <a:fillRect l="0" t="0" r="0" b="0"/>
            </a:stretch>
          </a:blipFill>
        </p:spPr>
      </p:sp>
      <p:sp>
        <p:nvSpPr>
          <p:cNvPr name="TextBox 10" id="10"/>
          <p:cNvSpPr txBox="true"/>
          <p:nvPr/>
        </p:nvSpPr>
        <p:spPr>
          <a:xfrm rot="0">
            <a:off x="4429841" y="6693385"/>
            <a:ext cx="9257983" cy="2045691"/>
          </a:xfrm>
          <a:prstGeom prst="rect">
            <a:avLst/>
          </a:prstGeom>
        </p:spPr>
        <p:txBody>
          <a:bodyPr anchor="t" rtlCol="false" tIns="0" lIns="0" bIns="0" rIns="0">
            <a:spAutoFit/>
          </a:bodyPr>
          <a:lstStyle/>
          <a:p>
            <a:pPr algn="ctr">
              <a:lnSpc>
                <a:spcPts val="13004"/>
              </a:lnSpc>
            </a:pPr>
            <a:r>
              <a:rPr lang="en-US" sz="14135">
                <a:solidFill>
                  <a:srgbClr val="022033"/>
                </a:solidFill>
                <a:latin typeface="Childling"/>
                <a:ea typeface="Childling"/>
                <a:cs typeface="Childling"/>
                <a:sym typeface="Childling"/>
              </a:rPr>
              <a:t>PLANTEAMIENTO</a:t>
            </a:r>
          </a:p>
        </p:txBody>
      </p:sp>
      <p:sp>
        <p:nvSpPr>
          <p:cNvPr name="TextBox 11" id="11"/>
          <p:cNvSpPr txBox="true"/>
          <p:nvPr/>
        </p:nvSpPr>
        <p:spPr>
          <a:xfrm rot="0">
            <a:off x="6605983" y="8590507"/>
            <a:ext cx="507603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Marykate"/>
                <a:ea typeface="Marykate"/>
                <a:cs typeface="Marykate"/>
                <a:sym typeface="Marykate"/>
              </a:rPr>
              <a:t>DEL PROBLEMA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58733" y="3610812"/>
            <a:ext cx="7166801" cy="5874165"/>
            <a:chOff x="0" y="0"/>
            <a:chExt cx="1887553" cy="1547105"/>
          </a:xfrm>
        </p:grpSpPr>
        <p:sp>
          <p:nvSpPr>
            <p:cNvPr name="Freeform 3" id="3"/>
            <p:cNvSpPr/>
            <p:nvPr/>
          </p:nvSpPr>
          <p:spPr>
            <a:xfrm flipH="false" flipV="false" rot="0">
              <a:off x="0" y="0"/>
              <a:ext cx="1887553" cy="1547105"/>
            </a:xfrm>
            <a:custGeom>
              <a:avLst/>
              <a:gdLst/>
              <a:ahLst/>
              <a:cxnLst/>
              <a:rect r="r" b="b" t="t" l="l"/>
              <a:pathLst>
                <a:path h="1547105" w="1887553">
                  <a:moveTo>
                    <a:pt x="37809" y="0"/>
                  </a:moveTo>
                  <a:lnTo>
                    <a:pt x="1849744" y="0"/>
                  </a:lnTo>
                  <a:cubicBezTo>
                    <a:pt x="1859771" y="0"/>
                    <a:pt x="1869388" y="3983"/>
                    <a:pt x="1876479" y="11074"/>
                  </a:cubicBezTo>
                  <a:cubicBezTo>
                    <a:pt x="1883569" y="18164"/>
                    <a:pt x="1887553" y="27781"/>
                    <a:pt x="1887553" y="37809"/>
                  </a:cubicBezTo>
                  <a:lnTo>
                    <a:pt x="1887553" y="1509297"/>
                  </a:lnTo>
                  <a:cubicBezTo>
                    <a:pt x="1887553" y="1519324"/>
                    <a:pt x="1883569" y="1528941"/>
                    <a:pt x="1876479" y="1536031"/>
                  </a:cubicBezTo>
                  <a:cubicBezTo>
                    <a:pt x="1869388" y="1543122"/>
                    <a:pt x="1859771" y="1547105"/>
                    <a:pt x="1849744" y="1547105"/>
                  </a:cubicBezTo>
                  <a:lnTo>
                    <a:pt x="37809" y="1547105"/>
                  </a:lnTo>
                  <a:cubicBezTo>
                    <a:pt x="27781" y="1547105"/>
                    <a:pt x="18164" y="1543122"/>
                    <a:pt x="11074" y="1536031"/>
                  </a:cubicBezTo>
                  <a:cubicBezTo>
                    <a:pt x="3983" y="1528941"/>
                    <a:pt x="0" y="1519324"/>
                    <a:pt x="0" y="1509297"/>
                  </a:cubicBezTo>
                  <a:lnTo>
                    <a:pt x="0" y="37809"/>
                  </a:lnTo>
                  <a:cubicBezTo>
                    <a:pt x="0" y="27781"/>
                    <a:pt x="3983" y="18164"/>
                    <a:pt x="11074" y="11074"/>
                  </a:cubicBezTo>
                  <a:cubicBezTo>
                    <a:pt x="18164" y="3983"/>
                    <a:pt x="27781" y="0"/>
                    <a:pt x="37809" y="0"/>
                  </a:cubicBezTo>
                  <a:close/>
                </a:path>
              </a:pathLst>
            </a:custGeom>
            <a:solidFill>
              <a:srgbClr val="FFBD59"/>
            </a:solidFill>
          </p:spPr>
        </p:sp>
        <p:sp>
          <p:nvSpPr>
            <p:cNvPr name="TextBox 4" id="4"/>
            <p:cNvSpPr txBox="true"/>
            <p:nvPr/>
          </p:nvSpPr>
          <p:spPr>
            <a:xfrm>
              <a:off x="0" y="-38100"/>
              <a:ext cx="1887553" cy="1585205"/>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227902" y="1104900"/>
            <a:ext cx="5832197" cy="1477126"/>
          </a:xfrm>
          <a:prstGeom prst="rect">
            <a:avLst/>
          </a:prstGeom>
        </p:spPr>
        <p:txBody>
          <a:bodyPr anchor="t" rtlCol="false" tIns="0" lIns="0" bIns="0" rIns="0">
            <a:spAutoFit/>
          </a:bodyPr>
          <a:lstStyle/>
          <a:p>
            <a:pPr algn="ctr">
              <a:lnSpc>
                <a:spcPts val="9383"/>
              </a:lnSpc>
            </a:pPr>
            <a:r>
              <a:rPr lang="en-US" sz="10199">
                <a:solidFill>
                  <a:srgbClr val="022033"/>
                </a:solidFill>
                <a:latin typeface="Childling"/>
                <a:ea typeface="Childling"/>
                <a:cs typeface="Childling"/>
                <a:sym typeface="Childling"/>
              </a:rPr>
              <a:t>ENUNCIADO</a:t>
            </a:r>
          </a:p>
        </p:txBody>
      </p:sp>
      <p:grpSp>
        <p:nvGrpSpPr>
          <p:cNvPr name="Group 6" id="6"/>
          <p:cNvGrpSpPr/>
          <p:nvPr/>
        </p:nvGrpSpPr>
        <p:grpSpPr>
          <a:xfrm rot="0">
            <a:off x="9562466" y="3610812"/>
            <a:ext cx="7166801" cy="5874165"/>
            <a:chOff x="0" y="0"/>
            <a:chExt cx="1887553" cy="1547105"/>
          </a:xfrm>
        </p:grpSpPr>
        <p:sp>
          <p:nvSpPr>
            <p:cNvPr name="Freeform 7" id="7"/>
            <p:cNvSpPr/>
            <p:nvPr/>
          </p:nvSpPr>
          <p:spPr>
            <a:xfrm flipH="false" flipV="false" rot="0">
              <a:off x="0" y="0"/>
              <a:ext cx="1887553" cy="1547105"/>
            </a:xfrm>
            <a:custGeom>
              <a:avLst/>
              <a:gdLst/>
              <a:ahLst/>
              <a:cxnLst/>
              <a:rect r="r" b="b" t="t" l="l"/>
              <a:pathLst>
                <a:path h="1547105" w="1887553">
                  <a:moveTo>
                    <a:pt x="37809" y="0"/>
                  </a:moveTo>
                  <a:lnTo>
                    <a:pt x="1849744" y="0"/>
                  </a:lnTo>
                  <a:cubicBezTo>
                    <a:pt x="1859771" y="0"/>
                    <a:pt x="1869388" y="3983"/>
                    <a:pt x="1876479" y="11074"/>
                  </a:cubicBezTo>
                  <a:cubicBezTo>
                    <a:pt x="1883569" y="18164"/>
                    <a:pt x="1887553" y="27781"/>
                    <a:pt x="1887553" y="37809"/>
                  </a:cubicBezTo>
                  <a:lnTo>
                    <a:pt x="1887553" y="1509297"/>
                  </a:lnTo>
                  <a:cubicBezTo>
                    <a:pt x="1887553" y="1519324"/>
                    <a:pt x="1883569" y="1528941"/>
                    <a:pt x="1876479" y="1536031"/>
                  </a:cubicBezTo>
                  <a:cubicBezTo>
                    <a:pt x="1869388" y="1543122"/>
                    <a:pt x="1859771" y="1547105"/>
                    <a:pt x="1849744" y="1547105"/>
                  </a:cubicBezTo>
                  <a:lnTo>
                    <a:pt x="37809" y="1547105"/>
                  </a:lnTo>
                  <a:cubicBezTo>
                    <a:pt x="27781" y="1547105"/>
                    <a:pt x="18164" y="1543122"/>
                    <a:pt x="11074" y="1536031"/>
                  </a:cubicBezTo>
                  <a:cubicBezTo>
                    <a:pt x="3983" y="1528941"/>
                    <a:pt x="0" y="1519324"/>
                    <a:pt x="0" y="1509297"/>
                  </a:cubicBezTo>
                  <a:lnTo>
                    <a:pt x="0" y="37809"/>
                  </a:lnTo>
                  <a:cubicBezTo>
                    <a:pt x="0" y="27781"/>
                    <a:pt x="3983" y="18164"/>
                    <a:pt x="11074" y="11074"/>
                  </a:cubicBezTo>
                  <a:cubicBezTo>
                    <a:pt x="18164" y="3983"/>
                    <a:pt x="27781" y="0"/>
                    <a:pt x="37809" y="0"/>
                  </a:cubicBezTo>
                  <a:close/>
                </a:path>
              </a:pathLst>
            </a:custGeom>
            <a:solidFill>
              <a:srgbClr val="FF5757"/>
            </a:solidFill>
          </p:spPr>
        </p:sp>
        <p:sp>
          <p:nvSpPr>
            <p:cNvPr name="TextBox 8" id="8"/>
            <p:cNvSpPr txBox="true"/>
            <p:nvPr/>
          </p:nvSpPr>
          <p:spPr>
            <a:xfrm>
              <a:off x="0" y="-38100"/>
              <a:ext cx="1887553" cy="1585205"/>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52829" y="3960852"/>
            <a:ext cx="6378608" cy="4462798"/>
          </a:xfrm>
          <a:prstGeom prst="rect">
            <a:avLst/>
          </a:prstGeom>
        </p:spPr>
        <p:txBody>
          <a:bodyPr anchor="t" rtlCol="false" tIns="0" lIns="0" bIns="0" rIns="0">
            <a:spAutoFit/>
          </a:bodyPr>
          <a:lstStyle/>
          <a:p>
            <a:pPr algn="l">
              <a:lnSpc>
                <a:spcPts val="3918"/>
              </a:lnSpc>
            </a:pPr>
            <a:r>
              <a:rPr lang="en-US" sz="2799" spc="156">
                <a:solidFill>
                  <a:srgbClr val="022033"/>
                </a:solidFill>
                <a:latin typeface="Marykate"/>
                <a:ea typeface="Marykate"/>
                <a:cs typeface="Marykate"/>
                <a:sym typeface="Marykate"/>
              </a:rPr>
              <a:t>1. Diseñe un sistema de conteo en base N (Entre base 2 a 64)</a:t>
            </a:r>
          </a:p>
          <a:p>
            <a:pPr algn="l">
              <a:lnSpc>
                <a:spcPts val="3918"/>
              </a:lnSpc>
            </a:pPr>
            <a:r>
              <a:rPr lang="en-US" sz="2799" spc="156">
                <a:solidFill>
                  <a:srgbClr val="022033"/>
                </a:solidFill>
                <a:latin typeface="Marykate"/>
                <a:ea typeface="Marykate"/>
                <a:cs typeface="Marykate"/>
                <a:sym typeface="Marykate"/>
              </a:rPr>
              <a:t>- Se usará este diseño de base 64 como referencia para todas las demás bases: B 64: {0-9, A-Z (incluyendo la Ñ), a-z(incluyendo la ñ)}.</a:t>
            </a:r>
          </a:p>
          <a:p>
            <a:pPr algn="l">
              <a:lnSpc>
                <a:spcPts val="3918"/>
              </a:lnSpc>
            </a:pPr>
            <a:r>
              <a:rPr lang="en-US" sz="2799" spc="156">
                <a:solidFill>
                  <a:srgbClr val="022033"/>
                </a:solidFill>
                <a:latin typeface="Marykate"/>
                <a:ea typeface="Marykate"/>
                <a:cs typeface="Marykate"/>
                <a:sym typeface="Marykate"/>
              </a:rPr>
              <a:t>- Con R dígitos, debe mostrar el proceso de conteo y convertirlo a base B, este debe ser comprobado en base 10.</a:t>
            </a:r>
          </a:p>
        </p:txBody>
      </p:sp>
      <p:sp>
        <p:nvSpPr>
          <p:cNvPr name="TextBox 10" id="10"/>
          <p:cNvSpPr txBox="true"/>
          <p:nvPr/>
        </p:nvSpPr>
        <p:spPr>
          <a:xfrm rot="0">
            <a:off x="10051459" y="3534612"/>
            <a:ext cx="6188815" cy="5660408"/>
          </a:xfrm>
          <a:prstGeom prst="rect">
            <a:avLst/>
          </a:prstGeom>
        </p:spPr>
        <p:txBody>
          <a:bodyPr anchor="t" rtlCol="false" tIns="0" lIns="0" bIns="0" rIns="0">
            <a:spAutoFit/>
          </a:bodyPr>
          <a:lstStyle/>
          <a:p>
            <a:pPr algn="l">
              <a:lnSpc>
                <a:spcPts val="4058"/>
              </a:lnSpc>
            </a:pPr>
          </a:p>
          <a:p>
            <a:pPr algn="l">
              <a:lnSpc>
                <a:spcPts val="4058"/>
              </a:lnSpc>
            </a:pPr>
            <a:r>
              <a:rPr lang="en-US" sz="2899" spc="162">
                <a:solidFill>
                  <a:srgbClr val="022033"/>
                </a:solidFill>
                <a:latin typeface="Marykate"/>
                <a:ea typeface="Marykate"/>
                <a:cs typeface="Marykate"/>
                <a:sym typeface="Marykate"/>
              </a:rPr>
              <a:t>- Su entrada debe de contener:</a:t>
            </a:r>
          </a:p>
          <a:p>
            <a:pPr algn="l">
              <a:lnSpc>
                <a:spcPts val="4058"/>
              </a:lnSpc>
            </a:pPr>
            <a:r>
              <a:rPr lang="en-US" sz="2899" spc="162">
                <a:solidFill>
                  <a:srgbClr val="022033"/>
                </a:solidFill>
                <a:latin typeface="Marykate"/>
                <a:ea typeface="Marykate"/>
                <a:cs typeface="Marykate"/>
                <a:sym typeface="Marykate"/>
              </a:rPr>
              <a:t>1. Número de dígitos (R)</a:t>
            </a:r>
          </a:p>
          <a:p>
            <a:pPr algn="l">
              <a:lnSpc>
                <a:spcPts val="4058"/>
              </a:lnSpc>
            </a:pPr>
            <a:r>
              <a:rPr lang="en-US" sz="2899" spc="162">
                <a:solidFill>
                  <a:srgbClr val="022033"/>
                </a:solidFill>
                <a:latin typeface="Marykate"/>
                <a:ea typeface="Marykate"/>
                <a:cs typeface="Marykate"/>
                <a:sym typeface="Marykate"/>
              </a:rPr>
              <a:t>2. Número de conteos (C)</a:t>
            </a:r>
          </a:p>
          <a:p>
            <a:pPr algn="l">
              <a:lnSpc>
                <a:spcPts val="4058"/>
              </a:lnSpc>
            </a:pPr>
            <a:r>
              <a:rPr lang="en-US" sz="2899" spc="162">
                <a:solidFill>
                  <a:srgbClr val="022033"/>
                </a:solidFill>
                <a:latin typeface="Marykate"/>
                <a:ea typeface="Marykate"/>
                <a:cs typeface="Marykate"/>
                <a:sym typeface="Marykate"/>
              </a:rPr>
              <a:t>3. La base requerida (N)</a:t>
            </a:r>
          </a:p>
          <a:p>
            <a:pPr algn="l">
              <a:lnSpc>
                <a:spcPts val="4058"/>
              </a:lnSpc>
            </a:pPr>
            <a:r>
              <a:rPr lang="en-US" sz="2899" spc="162">
                <a:solidFill>
                  <a:srgbClr val="022033"/>
                </a:solidFill>
                <a:latin typeface="Marykate"/>
                <a:ea typeface="Marykate"/>
                <a:cs typeface="Marykate"/>
                <a:sym typeface="Marykate"/>
              </a:rPr>
              <a:t>4. La base a la cual se desea interpretar (B)</a:t>
            </a:r>
          </a:p>
          <a:p>
            <a:pPr algn="l">
              <a:lnSpc>
                <a:spcPts val="4058"/>
              </a:lnSpc>
            </a:pPr>
          </a:p>
          <a:p>
            <a:pPr algn="l">
              <a:lnSpc>
                <a:spcPts val="4058"/>
              </a:lnSpc>
            </a:pPr>
            <a:r>
              <a:rPr lang="en-US" sz="2899" spc="162">
                <a:solidFill>
                  <a:srgbClr val="022033"/>
                </a:solidFill>
                <a:latin typeface="Marykate"/>
                <a:ea typeface="Marykate"/>
                <a:cs typeface="Marykate"/>
                <a:sym typeface="Marykate"/>
              </a:rPr>
              <a:t>- El programa debe de poder identificar el overflow (su límite) y poder adaptarse teniendo en cuenta más dígitos.</a:t>
            </a:r>
          </a:p>
          <a:p>
            <a:pPr algn="l">
              <a:lnSpc>
                <a:spcPts val="4058"/>
              </a:lnSpc>
            </a:pPr>
          </a:p>
        </p:txBody>
      </p:sp>
      <p:sp>
        <p:nvSpPr>
          <p:cNvPr name="Freeform 11" id="11"/>
          <p:cNvSpPr/>
          <p:nvPr/>
        </p:nvSpPr>
        <p:spPr>
          <a:xfrm flipH="false" flipV="false" rot="7491922">
            <a:off x="-4541578" y="-5401015"/>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12" id="12"/>
          <p:cNvSpPr/>
          <p:nvPr/>
        </p:nvSpPr>
        <p:spPr>
          <a:xfrm flipH="false" flipV="false" rot="7774774">
            <a:off x="-3290302" y="2455612"/>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8544531">
            <a:off x="16830150" y="38121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2"/>
            <a:stretch>
              <a:fillRect l="0" t="0" r="0" b="0"/>
            </a:stretch>
          </a:blipFill>
        </p:spPr>
      </p:sp>
      <p:sp>
        <p:nvSpPr>
          <p:cNvPr name="Freeform 14" id="14"/>
          <p:cNvSpPr/>
          <p:nvPr/>
        </p:nvSpPr>
        <p:spPr>
          <a:xfrm flipH="false" flipV="false" rot="7774774">
            <a:off x="14288156" y="8336982"/>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662838">
            <a:off x="-3485174" y="2966142"/>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40004">
            <a:off x="1697950" y="-2872258"/>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66269">
            <a:off x="-2809765" y="-872037"/>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254602">
            <a:off x="-3807921" y="6286728"/>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6" id="6"/>
          <p:cNvSpPr/>
          <p:nvPr/>
        </p:nvSpPr>
        <p:spPr>
          <a:xfrm flipH="false" flipV="false" rot="-5400000">
            <a:off x="2879173" y="9484783"/>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340004">
            <a:off x="8074247" y="8634218"/>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3308077">
            <a:off x="14314722" y="7394467"/>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9" id="9"/>
          <p:cNvSpPr/>
          <p:nvPr/>
        </p:nvSpPr>
        <p:spPr>
          <a:xfrm flipH="false" flipV="false" rot="-4015927">
            <a:off x="15692140" y="299233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0340004">
            <a:off x="14255433" y="-2098732"/>
            <a:ext cx="6007735" cy="4809549"/>
          </a:xfrm>
          <a:custGeom>
            <a:avLst/>
            <a:gdLst/>
            <a:ahLst/>
            <a:cxnLst/>
            <a:rect r="r" b="b" t="t" l="l"/>
            <a:pathLst>
              <a:path h="4809549" w="6007735">
                <a:moveTo>
                  <a:pt x="0" y="0"/>
                </a:moveTo>
                <a:lnTo>
                  <a:pt x="6007734" y="0"/>
                </a:lnTo>
                <a:lnTo>
                  <a:pt x="6007734"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8540998">
            <a:off x="7609733" y="-6301528"/>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2" id="12"/>
          <p:cNvSpPr/>
          <p:nvPr/>
        </p:nvSpPr>
        <p:spPr>
          <a:xfrm flipH="false" flipV="false" rot="-4015927">
            <a:off x="4754424" y="-353143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7207441" y="4340790"/>
            <a:ext cx="3873118" cy="4381702"/>
            <a:chOff x="0" y="0"/>
            <a:chExt cx="1020080" cy="1154028"/>
          </a:xfrm>
        </p:grpSpPr>
        <p:sp>
          <p:nvSpPr>
            <p:cNvPr name="Freeform 14" id="14"/>
            <p:cNvSpPr/>
            <p:nvPr/>
          </p:nvSpPr>
          <p:spPr>
            <a:xfrm flipH="false" flipV="false" rot="0">
              <a:off x="0" y="0"/>
              <a:ext cx="1020080" cy="1154028"/>
            </a:xfrm>
            <a:custGeom>
              <a:avLst/>
              <a:gdLst/>
              <a:ahLst/>
              <a:cxnLst/>
              <a:rect r="r" b="b" t="t" l="l"/>
              <a:pathLst>
                <a:path h="1154028" w="1020080">
                  <a:moveTo>
                    <a:pt x="101943" y="0"/>
                  </a:moveTo>
                  <a:lnTo>
                    <a:pt x="918137" y="0"/>
                  </a:lnTo>
                  <a:cubicBezTo>
                    <a:pt x="974439" y="0"/>
                    <a:pt x="1020080" y="45642"/>
                    <a:pt x="1020080" y="101943"/>
                  </a:cubicBezTo>
                  <a:lnTo>
                    <a:pt x="1020080" y="1052085"/>
                  </a:lnTo>
                  <a:cubicBezTo>
                    <a:pt x="1020080" y="1079122"/>
                    <a:pt x="1009340" y="1105052"/>
                    <a:pt x="990222" y="1124170"/>
                  </a:cubicBezTo>
                  <a:cubicBezTo>
                    <a:pt x="971104" y="1143288"/>
                    <a:pt x="945174" y="1154028"/>
                    <a:pt x="918137" y="1154028"/>
                  </a:cubicBezTo>
                  <a:lnTo>
                    <a:pt x="101943" y="1154028"/>
                  </a:lnTo>
                  <a:cubicBezTo>
                    <a:pt x="74906" y="1154028"/>
                    <a:pt x="48977" y="1143288"/>
                    <a:pt x="29858" y="1124170"/>
                  </a:cubicBezTo>
                  <a:cubicBezTo>
                    <a:pt x="10740" y="1105052"/>
                    <a:pt x="0" y="1079122"/>
                    <a:pt x="0" y="1052085"/>
                  </a:cubicBezTo>
                  <a:lnTo>
                    <a:pt x="0" y="101943"/>
                  </a:lnTo>
                  <a:cubicBezTo>
                    <a:pt x="0" y="74906"/>
                    <a:pt x="10740" y="48977"/>
                    <a:pt x="29858" y="29858"/>
                  </a:cubicBezTo>
                  <a:cubicBezTo>
                    <a:pt x="48977" y="10740"/>
                    <a:pt x="74906" y="0"/>
                    <a:pt x="101943" y="0"/>
                  </a:cubicBezTo>
                  <a:close/>
                </a:path>
              </a:pathLst>
            </a:custGeom>
            <a:solidFill>
              <a:srgbClr val="FF5757"/>
            </a:solidFill>
          </p:spPr>
        </p:sp>
        <p:sp>
          <p:nvSpPr>
            <p:cNvPr name="TextBox 15" id="15"/>
            <p:cNvSpPr txBox="true"/>
            <p:nvPr/>
          </p:nvSpPr>
          <p:spPr>
            <a:xfrm>
              <a:off x="0" y="-38100"/>
              <a:ext cx="1020080" cy="119212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765258" y="2941316"/>
            <a:ext cx="3873118" cy="4381702"/>
            <a:chOff x="0" y="0"/>
            <a:chExt cx="1020080" cy="1154028"/>
          </a:xfrm>
        </p:grpSpPr>
        <p:sp>
          <p:nvSpPr>
            <p:cNvPr name="Freeform 17" id="17"/>
            <p:cNvSpPr/>
            <p:nvPr/>
          </p:nvSpPr>
          <p:spPr>
            <a:xfrm flipH="false" flipV="false" rot="0">
              <a:off x="0" y="0"/>
              <a:ext cx="1020080" cy="1154028"/>
            </a:xfrm>
            <a:custGeom>
              <a:avLst/>
              <a:gdLst/>
              <a:ahLst/>
              <a:cxnLst/>
              <a:rect r="r" b="b" t="t" l="l"/>
              <a:pathLst>
                <a:path h="1154028" w="1020080">
                  <a:moveTo>
                    <a:pt x="101943" y="0"/>
                  </a:moveTo>
                  <a:lnTo>
                    <a:pt x="918137" y="0"/>
                  </a:lnTo>
                  <a:cubicBezTo>
                    <a:pt x="974439" y="0"/>
                    <a:pt x="1020080" y="45642"/>
                    <a:pt x="1020080" y="101943"/>
                  </a:cubicBezTo>
                  <a:lnTo>
                    <a:pt x="1020080" y="1052085"/>
                  </a:lnTo>
                  <a:cubicBezTo>
                    <a:pt x="1020080" y="1079122"/>
                    <a:pt x="1009340" y="1105052"/>
                    <a:pt x="990222" y="1124170"/>
                  </a:cubicBezTo>
                  <a:cubicBezTo>
                    <a:pt x="971104" y="1143288"/>
                    <a:pt x="945174" y="1154028"/>
                    <a:pt x="918137" y="1154028"/>
                  </a:cubicBezTo>
                  <a:lnTo>
                    <a:pt x="101943" y="1154028"/>
                  </a:lnTo>
                  <a:cubicBezTo>
                    <a:pt x="74906" y="1154028"/>
                    <a:pt x="48977" y="1143288"/>
                    <a:pt x="29858" y="1124170"/>
                  </a:cubicBezTo>
                  <a:cubicBezTo>
                    <a:pt x="10740" y="1105052"/>
                    <a:pt x="0" y="1079122"/>
                    <a:pt x="0" y="1052085"/>
                  </a:cubicBezTo>
                  <a:lnTo>
                    <a:pt x="0" y="101943"/>
                  </a:lnTo>
                  <a:cubicBezTo>
                    <a:pt x="0" y="74906"/>
                    <a:pt x="10740" y="48977"/>
                    <a:pt x="29858" y="29858"/>
                  </a:cubicBezTo>
                  <a:cubicBezTo>
                    <a:pt x="48977" y="10740"/>
                    <a:pt x="74906" y="0"/>
                    <a:pt x="101943" y="0"/>
                  </a:cubicBezTo>
                  <a:close/>
                </a:path>
              </a:pathLst>
            </a:custGeom>
            <a:solidFill>
              <a:srgbClr val="FF3131"/>
            </a:solidFill>
          </p:spPr>
        </p:sp>
        <p:sp>
          <p:nvSpPr>
            <p:cNvPr name="TextBox 18" id="18"/>
            <p:cNvSpPr txBox="true"/>
            <p:nvPr/>
          </p:nvSpPr>
          <p:spPr>
            <a:xfrm>
              <a:off x="0" y="-38100"/>
              <a:ext cx="1020080" cy="1192128"/>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5634887" y="1928122"/>
            <a:ext cx="7374262" cy="1679610"/>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ANALISIS</a:t>
            </a:r>
          </a:p>
        </p:txBody>
      </p:sp>
      <p:sp>
        <p:nvSpPr>
          <p:cNvPr name="TextBox 20" id="20"/>
          <p:cNvSpPr txBox="true"/>
          <p:nvPr/>
        </p:nvSpPr>
        <p:spPr>
          <a:xfrm rot="0">
            <a:off x="3394067" y="3225896"/>
            <a:ext cx="2615500" cy="687509"/>
          </a:xfrm>
          <a:prstGeom prst="rect">
            <a:avLst/>
          </a:prstGeom>
        </p:spPr>
        <p:txBody>
          <a:bodyPr anchor="t" rtlCol="false" tIns="0" lIns="0" bIns="0" rIns="0">
            <a:spAutoFit/>
          </a:bodyPr>
          <a:lstStyle/>
          <a:p>
            <a:pPr algn="ctr">
              <a:lnSpc>
                <a:spcPts val="5680"/>
              </a:lnSpc>
              <a:spcBef>
                <a:spcPct val="0"/>
              </a:spcBef>
            </a:pPr>
            <a:r>
              <a:rPr lang="en-US" sz="4057" spc="227">
                <a:solidFill>
                  <a:srgbClr val="FFFFFF"/>
                </a:solidFill>
                <a:latin typeface="Marykate"/>
                <a:ea typeface="Marykate"/>
                <a:cs typeface="Marykate"/>
                <a:sym typeface="Marykate"/>
              </a:rPr>
              <a:t>ENTRADAS</a:t>
            </a:r>
          </a:p>
        </p:txBody>
      </p:sp>
      <p:grpSp>
        <p:nvGrpSpPr>
          <p:cNvPr name="Group 21" id="21"/>
          <p:cNvGrpSpPr/>
          <p:nvPr/>
        </p:nvGrpSpPr>
        <p:grpSpPr>
          <a:xfrm rot="0">
            <a:off x="11652059" y="2871040"/>
            <a:ext cx="3873118" cy="4381702"/>
            <a:chOff x="0" y="0"/>
            <a:chExt cx="1020080" cy="1154028"/>
          </a:xfrm>
        </p:grpSpPr>
        <p:sp>
          <p:nvSpPr>
            <p:cNvPr name="Freeform 22" id="22"/>
            <p:cNvSpPr/>
            <p:nvPr/>
          </p:nvSpPr>
          <p:spPr>
            <a:xfrm flipH="false" flipV="false" rot="0">
              <a:off x="0" y="0"/>
              <a:ext cx="1020080" cy="1154028"/>
            </a:xfrm>
            <a:custGeom>
              <a:avLst/>
              <a:gdLst/>
              <a:ahLst/>
              <a:cxnLst/>
              <a:rect r="r" b="b" t="t" l="l"/>
              <a:pathLst>
                <a:path h="1154028" w="1020080">
                  <a:moveTo>
                    <a:pt x="101943" y="0"/>
                  </a:moveTo>
                  <a:lnTo>
                    <a:pt x="918137" y="0"/>
                  </a:lnTo>
                  <a:cubicBezTo>
                    <a:pt x="974439" y="0"/>
                    <a:pt x="1020080" y="45642"/>
                    <a:pt x="1020080" y="101943"/>
                  </a:cubicBezTo>
                  <a:lnTo>
                    <a:pt x="1020080" y="1052085"/>
                  </a:lnTo>
                  <a:cubicBezTo>
                    <a:pt x="1020080" y="1079122"/>
                    <a:pt x="1009340" y="1105052"/>
                    <a:pt x="990222" y="1124170"/>
                  </a:cubicBezTo>
                  <a:cubicBezTo>
                    <a:pt x="971104" y="1143288"/>
                    <a:pt x="945174" y="1154028"/>
                    <a:pt x="918137" y="1154028"/>
                  </a:cubicBezTo>
                  <a:lnTo>
                    <a:pt x="101943" y="1154028"/>
                  </a:lnTo>
                  <a:cubicBezTo>
                    <a:pt x="74906" y="1154028"/>
                    <a:pt x="48977" y="1143288"/>
                    <a:pt x="29858" y="1124170"/>
                  </a:cubicBezTo>
                  <a:cubicBezTo>
                    <a:pt x="10740" y="1105052"/>
                    <a:pt x="0" y="1079122"/>
                    <a:pt x="0" y="1052085"/>
                  </a:cubicBezTo>
                  <a:lnTo>
                    <a:pt x="0" y="101943"/>
                  </a:lnTo>
                  <a:cubicBezTo>
                    <a:pt x="0" y="74906"/>
                    <a:pt x="10740" y="48977"/>
                    <a:pt x="29858" y="29858"/>
                  </a:cubicBezTo>
                  <a:cubicBezTo>
                    <a:pt x="48977" y="10740"/>
                    <a:pt x="74906" y="0"/>
                    <a:pt x="101943" y="0"/>
                  </a:cubicBezTo>
                  <a:close/>
                </a:path>
              </a:pathLst>
            </a:custGeom>
            <a:solidFill>
              <a:srgbClr val="FFDE59"/>
            </a:solidFill>
          </p:spPr>
        </p:sp>
        <p:sp>
          <p:nvSpPr>
            <p:cNvPr name="TextBox 23" id="23"/>
            <p:cNvSpPr txBox="true"/>
            <p:nvPr/>
          </p:nvSpPr>
          <p:spPr>
            <a:xfrm>
              <a:off x="0" y="-38100"/>
              <a:ext cx="1020080" cy="1192128"/>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961333" y="4118923"/>
            <a:ext cx="3480969" cy="3026394"/>
          </a:xfrm>
          <a:prstGeom prst="rect">
            <a:avLst/>
          </a:prstGeom>
        </p:spPr>
        <p:txBody>
          <a:bodyPr anchor="t" rtlCol="false" tIns="0" lIns="0" bIns="0" rIns="0">
            <a:spAutoFit/>
          </a:bodyPr>
          <a:lstStyle/>
          <a:p>
            <a:pPr algn="ctr">
              <a:lnSpc>
                <a:spcPts val="3427"/>
              </a:lnSpc>
            </a:pPr>
            <a:r>
              <a:rPr lang="en-US" sz="2448" spc="137">
                <a:solidFill>
                  <a:srgbClr val="FFFFFF"/>
                </a:solidFill>
                <a:latin typeface="Marykate"/>
                <a:ea typeface="Marykate"/>
                <a:cs typeface="Marykate"/>
                <a:sym typeface="Marykate"/>
              </a:rPr>
              <a:t>R. Número inicial de dígitos.</a:t>
            </a:r>
          </a:p>
          <a:p>
            <a:pPr algn="ctr">
              <a:lnSpc>
                <a:spcPts val="3427"/>
              </a:lnSpc>
            </a:pPr>
            <a:r>
              <a:rPr lang="en-US" sz="2448" spc="137">
                <a:solidFill>
                  <a:srgbClr val="FFFFFF"/>
                </a:solidFill>
                <a:latin typeface="Marykate"/>
                <a:ea typeface="Marykate"/>
                <a:cs typeface="Marykate"/>
                <a:sym typeface="Marykate"/>
              </a:rPr>
              <a:t>C. Carga total de conteos a ejecutar</a:t>
            </a:r>
          </a:p>
          <a:p>
            <a:pPr algn="ctr">
              <a:lnSpc>
                <a:spcPts val="3427"/>
              </a:lnSpc>
            </a:pPr>
            <a:r>
              <a:rPr lang="en-US" sz="2448" spc="137">
                <a:solidFill>
                  <a:srgbClr val="FFFFFF"/>
                </a:solidFill>
                <a:latin typeface="Marykate"/>
                <a:ea typeface="Marykate"/>
                <a:cs typeface="Marykate"/>
                <a:sym typeface="Marykate"/>
              </a:rPr>
              <a:t>N. Base numérica para el conteo (2 a 64)</a:t>
            </a:r>
          </a:p>
          <a:p>
            <a:pPr algn="ctr">
              <a:lnSpc>
                <a:spcPts val="3427"/>
              </a:lnSpc>
              <a:spcBef>
                <a:spcPct val="0"/>
              </a:spcBef>
            </a:pPr>
            <a:r>
              <a:rPr lang="en-US" sz="2448" spc="137">
                <a:solidFill>
                  <a:srgbClr val="FFFFFF"/>
                </a:solidFill>
                <a:latin typeface="Marykate"/>
                <a:ea typeface="Marykate"/>
                <a:cs typeface="Marykate"/>
                <a:sym typeface="Marykate"/>
              </a:rPr>
              <a:t>B. Base destino para interpretación final</a:t>
            </a:r>
          </a:p>
        </p:txBody>
      </p:sp>
      <p:sp>
        <p:nvSpPr>
          <p:cNvPr name="TextBox 25" id="25"/>
          <p:cNvSpPr txBox="true"/>
          <p:nvPr/>
        </p:nvSpPr>
        <p:spPr>
          <a:xfrm rot="0">
            <a:off x="7836250" y="4404458"/>
            <a:ext cx="2615500" cy="1401884"/>
          </a:xfrm>
          <a:prstGeom prst="rect">
            <a:avLst/>
          </a:prstGeom>
        </p:spPr>
        <p:txBody>
          <a:bodyPr anchor="t" rtlCol="false" tIns="0" lIns="0" bIns="0" rIns="0">
            <a:spAutoFit/>
          </a:bodyPr>
          <a:lstStyle/>
          <a:p>
            <a:pPr algn="ctr">
              <a:lnSpc>
                <a:spcPts val="5680"/>
              </a:lnSpc>
              <a:spcBef>
                <a:spcPct val="0"/>
              </a:spcBef>
            </a:pPr>
            <a:r>
              <a:rPr lang="en-US" sz="4057" spc="227">
                <a:solidFill>
                  <a:srgbClr val="000000"/>
                </a:solidFill>
                <a:latin typeface="Marykate"/>
                <a:ea typeface="Marykate"/>
                <a:cs typeface="Marykate"/>
                <a:sym typeface="Marykate"/>
              </a:rPr>
              <a:t>ESTRUCTURA INTERNA</a:t>
            </a:r>
          </a:p>
        </p:txBody>
      </p:sp>
      <p:sp>
        <p:nvSpPr>
          <p:cNvPr name="TextBox 26" id="26"/>
          <p:cNvSpPr txBox="true"/>
          <p:nvPr/>
        </p:nvSpPr>
        <p:spPr>
          <a:xfrm rot="0">
            <a:off x="7404733" y="6128850"/>
            <a:ext cx="3480969" cy="1709468"/>
          </a:xfrm>
          <a:prstGeom prst="rect">
            <a:avLst/>
          </a:prstGeom>
        </p:spPr>
        <p:txBody>
          <a:bodyPr anchor="t" rtlCol="false" tIns="0" lIns="0" bIns="0" rIns="0">
            <a:spAutoFit/>
          </a:bodyPr>
          <a:lstStyle/>
          <a:p>
            <a:pPr algn="ctr">
              <a:lnSpc>
                <a:spcPts val="3427"/>
              </a:lnSpc>
              <a:spcBef>
                <a:spcPct val="0"/>
              </a:spcBef>
            </a:pPr>
            <a:r>
              <a:rPr lang="en-US" sz="2448" spc="137">
                <a:solidFill>
                  <a:srgbClr val="000000"/>
                </a:solidFill>
                <a:latin typeface="Marykate"/>
                <a:ea typeface="Marykate"/>
                <a:cs typeface="Marykate"/>
                <a:sym typeface="Marykate"/>
              </a:rPr>
              <a:t>Un arreglo de registros donde D0 representa el dígito menos significativo (unidades).</a:t>
            </a:r>
          </a:p>
        </p:txBody>
      </p:sp>
      <p:sp>
        <p:nvSpPr>
          <p:cNvPr name="TextBox 27" id="27"/>
          <p:cNvSpPr txBox="true"/>
          <p:nvPr/>
        </p:nvSpPr>
        <p:spPr>
          <a:xfrm rot="0">
            <a:off x="12268037" y="3280562"/>
            <a:ext cx="2782395" cy="687509"/>
          </a:xfrm>
          <a:prstGeom prst="rect">
            <a:avLst/>
          </a:prstGeom>
        </p:spPr>
        <p:txBody>
          <a:bodyPr anchor="t" rtlCol="false" tIns="0" lIns="0" bIns="0" rIns="0">
            <a:spAutoFit/>
          </a:bodyPr>
          <a:lstStyle/>
          <a:p>
            <a:pPr algn="ctr">
              <a:lnSpc>
                <a:spcPts val="5680"/>
              </a:lnSpc>
              <a:spcBef>
                <a:spcPct val="0"/>
              </a:spcBef>
            </a:pPr>
            <a:r>
              <a:rPr lang="en-US" sz="4057" spc="227">
                <a:solidFill>
                  <a:srgbClr val="000000"/>
                </a:solidFill>
                <a:latin typeface="Marykate"/>
                <a:ea typeface="Marykate"/>
                <a:cs typeface="Marykate"/>
                <a:sym typeface="Marykate"/>
              </a:rPr>
              <a:t>SALIDAS</a:t>
            </a:r>
          </a:p>
        </p:txBody>
      </p:sp>
      <p:sp>
        <p:nvSpPr>
          <p:cNvPr name="TextBox 28" id="28"/>
          <p:cNvSpPr txBox="true"/>
          <p:nvPr/>
        </p:nvSpPr>
        <p:spPr>
          <a:xfrm rot="0">
            <a:off x="11835303" y="4173589"/>
            <a:ext cx="3480969" cy="2160272"/>
          </a:xfrm>
          <a:prstGeom prst="rect">
            <a:avLst/>
          </a:prstGeom>
        </p:spPr>
        <p:txBody>
          <a:bodyPr anchor="t" rtlCol="false" tIns="0" lIns="0" bIns="0" rIns="0">
            <a:spAutoFit/>
          </a:bodyPr>
          <a:lstStyle/>
          <a:p>
            <a:pPr algn="ctr">
              <a:lnSpc>
                <a:spcPts val="3427"/>
              </a:lnSpc>
            </a:pPr>
            <a:r>
              <a:rPr lang="en-US" sz="2448" spc="137">
                <a:solidFill>
                  <a:srgbClr val="000000"/>
                </a:solidFill>
                <a:latin typeface="Marykate"/>
                <a:ea typeface="Marykate"/>
                <a:cs typeface="Marykate"/>
                <a:sym typeface="Marykate"/>
              </a:rPr>
              <a:t>Resultado final del conteo en base N</a:t>
            </a:r>
          </a:p>
          <a:p>
            <a:pPr algn="ctr">
              <a:lnSpc>
                <a:spcPts val="3427"/>
              </a:lnSpc>
            </a:pPr>
            <a:r>
              <a:rPr lang="en-US" sz="2448" spc="137">
                <a:solidFill>
                  <a:srgbClr val="000000"/>
                </a:solidFill>
                <a:latin typeface="Marykate"/>
                <a:ea typeface="Marykate"/>
                <a:cs typeface="Marykate"/>
                <a:sym typeface="Marykate"/>
              </a:rPr>
              <a:t>Resultado convertido a base B</a:t>
            </a:r>
          </a:p>
          <a:p>
            <a:pPr algn="ctr">
              <a:lnSpc>
                <a:spcPts val="3427"/>
              </a:lnSpc>
              <a:spcBef>
                <a:spcPct val="0"/>
              </a:spcBef>
            </a:pPr>
            <a:r>
              <a:rPr lang="en-US" sz="2448" spc="137">
                <a:solidFill>
                  <a:srgbClr val="000000"/>
                </a:solidFill>
                <a:latin typeface="Marykate"/>
                <a:ea typeface="Marykate"/>
                <a:cs typeface="Marykate"/>
                <a:sym typeface="Marykate"/>
              </a:rPr>
              <a:t>Valor verificado con base 10</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806484">
            <a:off x="-3578244" y="3100376"/>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137161">
            <a:off x="11466791" y="-2989975"/>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33730">
            <a:off x="15813888" y="68962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700000">
            <a:off x="-1883985" y="-538241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6" id="6"/>
          <p:cNvSpPr/>
          <p:nvPr/>
        </p:nvSpPr>
        <p:spPr>
          <a:xfrm flipH="false" flipV="false" rot="2700000">
            <a:off x="15924173" y="5744745"/>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7" id="7"/>
          <p:cNvSpPr/>
          <p:nvPr/>
        </p:nvSpPr>
        <p:spPr>
          <a:xfrm flipH="false" flipV="false" rot="0">
            <a:off x="6075045" y="0"/>
            <a:ext cx="6137910" cy="10287000"/>
          </a:xfrm>
          <a:custGeom>
            <a:avLst/>
            <a:gdLst/>
            <a:ahLst/>
            <a:cxnLst/>
            <a:rect r="r" b="b" t="t" l="l"/>
            <a:pathLst>
              <a:path h="10287000" w="6137910">
                <a:moveTo>
                  <a:pt x="0" y="0"/>
                </a:moveTo>
                <a:lnTo>
                  <a:pt x="6137910" y="0"/>
                </a:lnTo>
                <a:lnTo>
                  <a:pt x="6137910" y="10287000"/>
                </a:lnTo>
                <a:lnTo>
                  <a:pt x="0" y="10287000"/>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662838">
            <a:off x="-4240083" y="2610287"/>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466269">
            <a:off x="-3109550" y="-1518437"/>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983088">
            <a:off x="-4148603" y="6085558"/>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5400000">
            <a:off x="2538490" y="9283613"/>
            <a:ext cx="5942288" cy="4757155"/>
          </a:xfrm>
          <a:custGeom>
            <a:avLst/>
            <a:gdLst/>
            <a:ahLst/>
            <a:cxnLst/>
            <a:rect r="r" b="b" t="t" l="l"/>
            <a:pathLst>
              <a:path h="4757155" w="5942288">
                <a:moveTo>
                  <a:pt x="0" y="0"/>
                </a:moveTo>
                <a:lnTo>
                  <a:pt x="5942289" y="0"/>
                </a:lnTo>
                <a:lnTo>
                  <a:pt x="5942289"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340004">
            <a:off x="7733565" y="8433048"/>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3308077">
            <a:off x="14108153" y="7908568"/>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4015927">
            <a:off x="15351457" y="2791169"/>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0340004">
            <a:off x="13740524" y="-1870734"/>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8540998">
            <a:off x="7269051" y="-6266515"/>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1" id="11"/>
          <p:cNvSpPr/>
          <p:nvPr/>
        </p:nvSpPr>
        <p:spPr>
          <a:xfrm flipH="false" flipV="false" rot="-4015927">
            <a:off x="4034042" y="-3906544"/>
            <a:ext cx="5942288" cy="4757155"/>
          </a:xfrm>
          <a:custGeom>
            <a:avLst/>
            <a:gdLst/>
            <a:ahLst/>
            <a:cxnLst/>
            <a:rect r="r" b="b" t="t" l="l"/>
            <a:pathLst>
              <a:path h="4757155" w="5942288">
                <a:moveTo>
                  <a:pt x="0" y="0"/>
                </a:moveTo>
                <a:lnTo>
                  <a:pt x="5942288" y="0"/>
                </a:lnTo>
                <a:lnTo>
                  <a:pt x="5942288" y="4757154"/>
                </a:lnTo>
                <a:lnTo>
                  <a:pt x="0" y="475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10340004">
            <a:off x="1322666" y="-3373936"/>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854796" y="3182502"/>
            <a:ext cx="6606519" cy="5288481"/>
            <a:chOff x="0" y="0"/>
            <a:chExt cx="1739988" cy="1392851"/>
          </a:xfrm>
        </p:grpSpPr>
        <p:sp>
          <p:nvSpPr>
            <p:cNvPr name="Freeform 14" id="14"/>
            <p:cNvSpPr/>
            <p:nvPr/>
          </p:nvSpPr>
          <p:spPr>
            <a:xfrm flipH="false" flipV="false" rot="0">
              <a:off x="0" y="0"/>
              <a:ext cx="1739989" cy="1392851"/>
            </a:xfrm>
            <a:custGeom>
              <a:avLst/>
              <a:gdLst/>
              <a:ahLst/>
              <a:cxnLst/>
              <a:rect r="r" b="b" t="t" l="l"/>
              <a:pathLst>
                <a:path h="1392851" w="1739989">
                  <a:moveTo>
                    <a:pt x="59765" y="0"/>
                  </a:moveTo>
                  <a:lnTo>
                    <a:pt x="1680224" y="0"/>
                  </a:lnTo>
                  <a:cubicBezTo>
                    <a:pt x="1696074" y="0"/>
                    <a:pt x="1711276" y="6297"/>
                    <a:pt x="1722484" y="17505"/>
                  </a:cubicBezTo>
                  <a:cubicBezTo>
                    <a:pt x="1733692" y="28713"/>
                    <a:pt x="1739989" y="43914"/>
                    <a:pt x="1739989" y="59765"/>
                  </a:cubicBezTo>
                  <a:lnTo>
                    <a:pt x="1739989" y="1333086"/>
                  </a:lnTo>
                  <a:cubicBezTo>
                    <a:pt x="1739989" y="1348937"/>
                    <a:pt x="1733692" y="1364138"/>
                    <a:pt x="1722484" y="1375346"/>
                  </a:cubicBezTo>
                  <a:cubicBezTo>
                    <a:pt x="1711276" y="1386555"/>
                    <a:pt x="1696074" y="1392851"/>
                    <a:pt x="1680224" y="1392851"/>
                  </a:cubicBezTo>
                  <a:lnTo>
                    <a:pt x="59765" y="1392851"/>
                  </a:lnTo>
                  <a:cubicBezTo>
                    <a:pt x="43914" y="1392851"/>
                    <a:pt x="28713" y="1386555"/>
                    <a:pt x="17505" y="1375346"/>
                  </a:cubicBezTo>
                  <a:cubicBezTo>
                    <a:pt x="6297" y="1364138"/>
                    <a:pt x="0" y="1348937"/>
                    <a:pt x="0" y="1333086"/>
                  </a:cubicBezTo>
                  <a:lnTo>
                    <a:pt x="0" y="59765"/>
                  </a:lnTo>
                  <a:cubicBezTo>
                    <a:pt x="0" y="43914"/>
                    <a:pt x="6297" y="28713"/>
                    <a:pt x="17505" y="17505"/>
                  </a:cubicBezTo>
                  <a:cubicBezTo>
                    <a:pt x="28713" y="6297"/>
                    <a:pt x="43914" y="0"/>
                    <a:pt x="59765" y="0"/>
                  </a:cubicBezTo>
                  <a:close/>
                </a:path>
              </a:pathLst>
            </a:custGeom>
            <a:solidFill>
              <a:srgbClr val="FF5757"/>
            </a:solidFill>
          </p:spPr>
        </p:sp>
        <p:sp>
          <p:nvSpPr>
            <p:cNvPr name="TextBox 15" id="15"/>
            <p:cNvSpPr txBox="true"/>
            <p:nvPr/>
          </p:nvSpPr>
          <p:spPr>
            <a:xfrm>
              <a:off x="0" y="-38100"/>
              <a:ext cx="1739988" cy="143095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456869" y="1114425"/>
            <a:ext cx="7374262" cy="1679629"/>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DATOS</a:t>
            </a:r>
          </a:p>
        </p:txBody>
      </p:sp>
      <p:sp>
        <p:nvSpPr>
          <p:cNvPr name="TextBox 17" id="17"/>
          <p:cNvSpPr txBox="true"/>
          <p:nvPr/>
        </p:nvSpPr>
        <p:spPr>
          <a:xfrm rot="0">
            <a:off x="1438523" y="3599830"/>
            <a:ext cx="7439064" cy="547027"/>
          </a:xfrm>
          <a:prstGeom prst="rect">
            <a:avLst/>
          </a:prstGeom>
        </p:spPr>
        <p:txBody>
          <a:bodyPr anchor="t" rtlCol="false" tIns="0" lIns="0" bIns="0" rIns="0">
            <a:spAutoFit/>
          </a:bodyPr>
          <a:lstStyle/>
          <a:p>
            <a:pPr algn="ctr">
              <a:lnSpc>
                <a:spcPts val="4049"/>
              </a:lnSpc>
            </a:pPr>
            <a:r>
              <a:rPr lang="en-US" sz="4401" spc="246">
                <a:solidFill>
                  <a:srgbClr val="022033"/>
                </a:solidFill>
                <a:latin typeface="Marykate"/>
                <a:ea typeface="Marykate"/>
                <a:cs typeface="Marykate"/>
                <a:sym typeface="Marykate"/>
              </a:rPr>
              <a:t>RESULTADOS A</a:t>
            </a:r>
          </a:p>
        </p:txBody>
      </p:sp>
      <p:sp>
        <p:nvSpPr>
          <p:cNvPr name="TextBox 18" id="18"/>
          <p:cNvSpPr txBox="true"/>
          <p:nvPr/>
        </p:nvSpPr>
        <p:spPr>
          <a:xfrm rot="0">
            <a:off x="2385844" y="4329765"/>
            <a:ext cx="5544424" cy="3935319"/>
          </a:xfrm>
          <a:prstGeom prst="rect">
            <a:avLst/>
          </a:prstGeom>
        </p:spPr>
        <p:txBody>
          <a:bodyPr anchor="t" rtlCol="false" tIns="0" lIns="0" bIns="0" rIns="0">
            <a:spAutoFit/>
          </a:bodyPr>
          <a:lstStyle/>
          <a:p>
            <a:pPr algn="ctr">
              <a:lnSpc>
                <a:spcPts val="5179"/>
              </a:lnSpc>
              <a:spcBef>
                <a:spcPct val="0"/>
              </a:spcBef>
            </a:pPr>
            <a:r>
              <a:rPr lang="en-US" sz="3699" spc="207">
                <a:solidFill>
                  <a:srgbClr val="022033"/>
                </a:solidFill>
                <a:latin typeface="Marykate"/>
                <a:ea typeface="Marykate"/>
                <a:cs typeface="Marykate"/>
                <a:sym typeface="Marykate"/>
              </a:rPr>
              <a:t>Lorem ipsum dolor sit amet consectetur adipiscing elit, eget quis sed neque nisi penatibus porta, dictumst posuere nulla tellus himenaeos tempor.</a:t>
            </a:r>
          </a:p>
        </p:txBody>
      </p:sp>
      <p:grpSp>
        <p:nvGrpSpPr>
          <p:cNvPr name="Group 19" id="19"/>
          <p:cNvGrpSpPr/>
          <p:nvPr/>
        </p:nvGrpSpPr>
        <p:grpSpPr>
          <a:xfrm rot="0">
            <a:off x="9826685" y="3182502"/>
            <a:ext cx="6606519" cy="5288481"/>
            <a:chOff x="0" y="0"/>
            <a:chExt cx="1739988" cy="1392851"/>
          </a:xfrm>
        </p:grpSpPr>
        <p:sp>
          <p:nvSpPr>
            <p:cNvPr name="Freeform 20" id="20"/>
            <p:cNvSpPr/>
            <p:nvPr/>
          </p:nvSpPr>
          <p:spPr>
            <a:xfrm flipH="false" flipV="false" rot="0">
              <a:off x="0" y="0"/>
              <a:ext cx="1739989" cy="1392851"/>
            </a:xfrm>
            <a:custGeom>
              <a:avLst/>
              <a:gdLst/>
              <a:ahLst/>
              <a:cxnLst/>
              <a:rect r="r" b="b" t="t" l="l"/>
              <a:pathLst>
                <a:path h="1392851" w="1739989">
                  <a:moveTo>
                    <a:pt x="59765" y="0"/>
                  </a:moveTo>
                  <a:lnTo>
                    <a:pt x="1680224" y="0"/>
                  </a:lnTo>
                  <a:cubicBezTo>
                    <a:pt x="1696074" y="0"/>
                    <a:pt x="1711276" y="6297"/>
                    <a:pt x="1722484" y="17505"/>
                  </a:cubicBezTo>
                  <a:cubicBezTo>
                    <a:pt x="1733692" y="28713"/>
                    <a:pt x="1739989" y="43914"/>
                    <a:pt x="1739989" y="59765"/>
                  </a:cubicBezTo>
                  <a:lnTo>
                    <a:pt x="1739989" y="1333086"/>
                  </a:lnTo>
                  <a:cubicBezTo>
                    <a:pt x="1739989" y="1348937"/>
                    <a:pt x="1733692" y="1364138"/>
                    <a:pt x="1722484" y="1375346"/>
                  </a:cubicBezTo>
                  <a:cubicBezTo>
                    <a:pt x="1711276" y="1386555"/>
                    <a:pt x="1696074" y="1392851"/>
                    <a:pt x="1680224" y="1392851"/>
                  </a:cubicBezTo>
                  <a:lnTo>
                    <a:pt x="59765" y="1392851"/>
                  </a:lnTo>
                  <a:cubicBezTo>
                    <a:pt x="43914" y="1392851"/>
                    <a:pt x="28713" y="1386555"/>
                    <a:pt x="17505" y="1375346"/>
                  </a:cubicBezTo>
                  <a:cubicBezTo>
                    <a:pt x="6297" y="1364138"/>
                    <a:pt x="0" y="1348937"/>
                    <a:pt x="0" y="1333086"/>
                  </a:cubicBezTo>
                  <a:lnTo>
                    <a:pt x="0" y="59765"/>
                  </a:lnTo>
                  <a:cubicBezTo>
                    <a:pt x="0" y="43914"/>
                    <a:pt x="6297" y="28713"/>
                    <a:pt x="17505" y="17505"/>
                  </a:cubicBezTo>
                  <a:cubicBezTo>
                    <a:pt x="28713" y="6297"/>
                    <a:pt x="43914" y="0"/>
                    <a:pt x="59765" y="0"/>
                  </a:cubicBezTo>
                  <a:close/>
                </a:path>
              </a:pathLst>
            </a:custGeom>
            <a:solidFill>
              <a:srgbClr val="FFBD59"/>
            </a:solidFill>
          </p:spPr>
        </p:sp>
        <p:sp>
          <p:nvSpPr>
            <p:cNvPr name="TextBox 21" id="21"/>
            <p:cNvSpPr txBox="true"/>
            <p:nvPr/>
          </p:nvSpPr>
          <p:spPr>
            <a:xfrm>
              <a:off x="0" y="-38100"/>
              <a:ext cx="1739988" cy="1430951"/>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9410412" y="3599830"/>
            <a:ext cx="7439064" cy="547027"/>
          </a:xfrm>
          <a:prstGeom prst="rect">
            <a:avLst/>
          </a:prstGeom>
        </p:spPr>
        <p:txBody>
          <a:bodyPr anchor="t" rtlCol="false" tIns="0" lIns="0" bIns="0" rIns="0">
            <a:spAutoFit/>
          </a:bodyPr>
          <a:lstStyle/>
          <a:p>
            <a:pPr algn="ctr">
              <a:lnSpc>
                <a:spcPts val="4049"/>
              </a:lnSpc>
            </a:pPr>
            <a:r>
              <a:rPr lang="en-US" sz="4401" spc="246">
                <a:solidFill>
                  <a:srgbClr val="022033"/>
                </a:solidFill>
                <a:latin typeface="Marykate"/>
                <a:ea typeface="Marykate"/>
                <a:cs typeface="Marykate"/>
                <a:sym typeface="Marykate"/>
              </a:rPr>
              <a:t>RESULTADOS B</a:t>
            </a:r>
          </a:p>
        </p:txBody>
      </p:sp>
      <p:sp>
        <p:nvSpPr>
          <p:cNvPr name="TextBox 23" id="23"/>
          <p:cNvSpPr txBox="true"/>
          <p:nvPr/>
        </p:nvSpPr>
        <p:spPr>
          <a:xfrm rot="0">
            <a:off x="10357733" y="4329765"/>
            <a:ext cx="5544424" cy="3935319"/>
          </a:xfrm>
          <a:prstGeom prst="rect">
            <a:avLst/>
          </a:prstGeom>
        </p:spPr>
        <p:txBody>
          <a:bodyPr anchor="t" rtlCol="false" tIns="0" lIns="0" bIns="0" rIns="0">
            <a:spAutoFit/>
          </a:bodyPr>
          <a:lstStyle/>
          <a:p>
            <a:pPr algn="ctr">
              <a:lnSpc>
                <a:spcPts val="5179"/>
              </a:lnSpc>
              <a:spcBef>
                <a:spcPct val="0"/>
              </a:spcBef>
            </a:pPr>
            <a:r>
              <a:rPr lang="en-US" sz="3699" spc="207">
                <a:solidFill>
                  <a:srgbClr val="022033"/>
                </a:solidFill>
                <a:latin typeface="Marykate"/>
                <a:ea typeface="Marykate"/>
                <a:cs typeface="Marykate"/>
                <a:sym typeface="Marykate"/>
              </a:rPr>
              <a:t>Lorem ipsum dolor sit amet consectetur adipiscing elit, eget quis sed neque nisi penatibus porta, dictumst posuere nulla tellus himenaeos tempor.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60729" y="1849719"/>
            <a:ext cx="814462" cy="6587563"/>
          </a:xfrm>
          <a:custGeom>
            <a:avLst/>
            <a:gdLst/>
            <a:ahLst/>
            <a:cxnLst/>
            <a:rect r="r" b="b" t="t" l="l"/>
            <a:pathLst>
              <a:path h="6587563" w="814462">
                <a:moveTo>
                  <a:pt x="0" y="0"/>
                </a:moveTo>
                <a:lnTo>
                  <a:pt x="814462" y="0"/>
                </a:lnTo>
                <a:lnTo>
                  <a:pt x="814462" y="6587562"/>
                </a:lnTo>
                <a:lnTo>
                  <a:pt x="0" y="6587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946193" y="2356234"/>
            <a:ext cx="9313107" cy="5479283"/>
          </a:xfrm>
          <a:prstGeom prst="rect">
            <a:avLst/>
          </a:prstGeom>
        </p:spPr>
        <p:txBody>
          <a:bodyPr anchor="t" rtlCol="false" tIns="0" lIns="0" bIns="0" rIns="0">
            <a:spAutoFit/>
          </a:bodyPr>
          <a:lstStyle/>
          <a:p>
            <a:pPr algn="l">
              <a:lnSpc>
                <a:spcPts val="6290"/>
              </a:lnSpc>
              <a:spcBef>
                <a:spcPct val="0"/>
              </a:spcBef>
            </a:pPr>
            <a:r>
              <a:rPr lang="en-US" sz="4493" spc="251">
                <a:solidFill>
                  <a:srgbClr val="022033"/>
                </a:solidFill>
                <a:latin typeface="Marykate"/>
                <a:ea typeface="Marykate"/>
                <a:cs typeface="Marykate"/>
                <a:sym typeface="Marykate"/>
              </a:rPr>
              <a:t>Lorem ipsum dolor sit amet consectetur adipiscing elit pulvinar auctor, orci massa malesuada quis quam justo iaculis penatibus, sed magnis vehicula inceptos fames consequat netus parturient. Vivamus diam porttitor interdum dapibus gravida, imperdiet arcu per.</a:t>
            </a:r>
          </a:p>
        </p:txBody>
      </p:sp>
      <p:sp>
        <p:nvSpPr>
          <p:cNvPr name="TextBox 4" id="4"/>
          <p:cNvSpPr txBox="true"/>
          <p:nvPr/>
        </p:nvSpPr>
        <p:spPr>
          <a:xfrm rot="-5400000">
            <a:off x="2739334" y="4387336"/>
            <a:ext cx="6420263" cy="1679629"/>
          </a:xfrm>
          <a:prstGeom prst="rect">
            <a:avLst/>
          </a:prstGeom>
        </p:spPr>
        <p:txBody>
          <a:bodyPr anchor="t" rtlCol="false" tIns="0" lIns="0" bIns="0" rIns="0">
            <a:spAutoFit/>
          </a:bodyPr>
          <a:lstStyle/>
          <a:p>
            <a:pPr algn="ctr">
              <a:lnSpc>
                <a:spcPts val="10679"/>
              </a:lnSpc>
            </a:pPr>
            <a:r>
              <a:rPr lang="en-US" sz="11608">
                <a:solidFill>
                  <a:srgbClr val="022033"/>
                </a:solidFill>
                <a:latin typeface="Childling"/>
                <a:ea typeface="Childling"/>
                <a:cs typeface="Childling"/>
                <a:sym typeface="Childling"/>
              </a:rPr>
              <a:t>CONCLUSIÓN</a:t>
            </a:r>
          </a:p>
        </p:txBody>
      </p:sp>
      <p:grpSp>
        <p:nvGrpSpPr>
          <p:cNvPr name="Group 5" id="5"/>
          <p:cNvGrpSpPr/>
          <p:nvPr/>
        </p:nvGrpSpPr>
        <p:grpSpPr>
          <a:xfrm rot="0">
            <a:off x="1612334" y="3611553"/>
            <a:ext cx="3231194" cy="323119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t="0" r="-25000" b="0"/>
              </a:stretch>
            </a:blipFill>
            <a:ln w="38100" cap="sq">
              <a:solidFill>
                <a:srgbClr val="000000"/>
              </a:solidFill>
              <a:prstDash val="solid"/>
              <a:miter/>
            </a:ln>
          </p:spPr>
        </p:sp>
      </p:grpSp>
      <p:sp>
        <p:nvSpPr>
          <p:cNvPr name="Freeform 7" id="7"/>
          <p:cNvSpPr/>
          <p:nvPr/>
        </p:nvSpPr>
        <p:spPr>
          <a:xfrm flipH="false" flipV="false" rot="-10142199">
            <a:off x="-503651" y="7667749"/>
            <a:ext cx="6007735" cy="4809549"/>
          </a:xfrm>
          <a:custGeom>
            <a:avLst/>
            <a:gdLst/>
            <a:ahLst/>
            <a:cxnLst/>
            <a:rect r="r" b="b" t="t" l="l"/>
            <a:pathLst>
              <a:path h="4809549" w="6007735">
                <a:moveTo>
                  <a:pt x="0" y="0"/>
                </a:moveTo>
                <a:lnTo>
                  <a:pt x="6007735" y="0"/>
                </a:lnTo>
                <a:lnTo>
                  <a:pt x="6007735" y="4809548"/>
                </a:lnTo>
                <a:lnTo>
                  <a:pt x="0" y="4809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806484">
            <a:off x="-3532538" y="2869432"/>
            <a:ext cx="5942288" cy="4757155"/>
          </a:xfrm>
          <a:custGeom>
            <a:avLst/>
            <a:gdLst/>
            <a:ahLst/>
            <a:cxnLst/>
            <a:rect r="r" b="b" t="t" l="l"/>
            <a:pathLst>
              <a:path h="4757155" w="5942288">
                <a:moveTo>
                  <a:pt x="0" y="0"/>
                </a:moveTo>
                <a:lnTo>
                  <a:pt x="5942289" y="0"/>
                </a:lnTo>
                <a:lnTo>
                  <a:pt x="5942289" y="4757154"/>
                </a:lnTo>
                <a:lnTo>
                  <a:pt x="0" y="47571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2700000">
            <a:off x="-1883985" y="-538241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2700000">
            <a:off x="10368565" y="753821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2923504">
            <a:off x="15830957" y="4106368"/>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8027894">
            <a:off x="14255433" y="-1721934"/>
            <a:ext cx="6007735" cy="4809549"/>
          </a:xfrm>
          <a:custGeom>
            <a:avLst/>
            <a:gdLst/>
            <a:ahLst/>
            <a:cxnLst/>
            <a:rect r="r" b="b" t="t" l="l"/>
            <a:pathLst>
              <a:path h="4809549" w="6007735">
                <a:moveTo>
                  <a:pt x="0" y="0"/>
                </a:moveTo>
                <a:lnTo>
                  <a:pt x="6007734" y="0"/>
                </a:lnTo>
                <a:lnTo>
                  <a:pt x="6007734" y="4809549"/>
                </a:lnTo>
                <a:lnTo>
                  <a:pt x="0" y="48095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65632"/>
            <a:ext cx="6600073" cy="5016055"/>
          </a:xfrm>
          <a:custGeom>
            <a:avLst/>
            <a:gdLst/>
            <a:ahLst/>
            <a:cxnLst/>
            <a:rect r="r" b="b" t="t" l="l"/>
            <a:pathLst>
              <a:path h="5016055" w="6600073">
                <a:moveTo>
                  <a:pt x="0" y="0"/>
                </a:moveTo>
                <a:lnTo>
                  <a:pt x="6600073" y="0"/>
                </a:lnTo>
                <a:lnTo>
                  <a:pt x="6600073" y="5016056"/>
                </a:lnTo>
                <a:lnTo>
                  <a:pt x="0" y="5016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79239" y="3241229"/>
            <a:ext cx="11129521" cy="3063910"/>
          </a:xfrm>
          <a:prstGeom prst="rect">
            <a:avLst/>
          </a:prstGeom>
        </p:spPr>
        <p:txBody>
          <a:bodyPr anchor="t" rtlCol="false" tIns="0" lIns="0" bIns="0" rIns="0">
            <a:spAutoFit/>
          </a:bodyPr>
          <a:lstStyle/>
          <a:p>
            <a:pPr algn="ctr">
              <a:lnSpc>
                <a:spcPts val="12066"/>
              </a:lnSpc>
            </a:pPr>
            <a:r>
              <a:rPr lang="en-US" sz="9972">
                <a:solidFill>
                  <a:srgbClr val="022033"/>
                </a:solidFill>
                <a:latin typeface="Marykate"/>
                <a:ea typeface="Marykate"/>
                <a:cs typeface="Marykate"/>
                <a:sym typeface="Marykate"/>
              </a:rPr>
              <a:t>LOS MEJORES PROYECTOS SE REALIZAN EN EQUIPO</a:t>
            </a:r>
          </a:p>
        </p:txBody>
      </p:sp>
      <p:sp>
        <p:nvSpPr>
          <p:cNvPr name="Freeform 4" id="4"/>
          <p:cNvSpPr/>
          <p:nvPr/>
        </p:nvSpPr>
        <p:spPr>
          <a:xfrm flipH="false" flipV="false" rot="10340004">
            <a:off x="7627203" y="7957554"/>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308077">
            <a:off x="13867678" y="671780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6" id="6"/>
          <p:cNvSpPr/>
          <p:nvPr/>
        </p:nvSpPr>
        <p:spPr>
          <a:xfrm flipH="false" flipV="false" rot="-4015927">
            <a:off x="15245095" y="2315675"/>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30356" y="1816939"/>
            <a:ext cx="14427288" cy="5068927"/>
          </a:xfrm>
          <a:prstGeom prst="rect">
            <a:avLst/>
          </a:prstGeom>
        </p:spPr>
        <p:txBody>
          <a:bodyPr anchor="t" rtlCol="false" tIns="0" lIns="0" bIns="0" rIns="0">
            <a:spAutoFit/>
          </a:bodyPr>
          <a:lstStyle/>
          <a:p>
            <a:pPr algn="ctr">
              <a:lnSpc>
                <a:spcPts val="17842"/>
              </a:lnSpc>
            </a:pPr>
            <a:r>
              <a:rPr lang="en-US" sz="19394">
                <a:solidFill>
                  <a:srgbClr val="022033"/>
                </a:solidFill>
                <a:latin typeface="Childling"/>
                <a:ea typeface="Childling"/>
                <a:cs typeface="Childling"/>
                <a:sym typeface="Childling"/>
              </a:rPr>
              <a:t>¡MUCHAS GRACIAS!</a:t>
            </a:r>
          </a:p>
        </p:txBody>
      </p:sp>
      <p:sp>
        <p:nvSpPr>
          <p:cNvPr name="TextBox 3" id="3"/>
          <p:cNvSpPr txBox="true"/>
          <p:nvPr/>
        </p:nvSpPr>
        <p:spPr>
          <a:xfrm rot="0">
            <a:off x="6152176" y="8049622"/>
            <a:ext cx="5983647" cy="544385"/>
          </a:xfrm>
          <a:prstGeom prst="rect">
            <a:avLst/>
          </a:prstGeom>
        </p:spPr>
        <p:txBody>
          <a:bodyPr anchor="t" rtlCol="false" tIns="0" lIns="0" bIns="0" rIns="0">
            <a:spAutoFit/>
          </a:bodyPr>
          <a:lstStyle/>
          <a:p>
            <a:pPr algn="ctr">
              <a:lnSpc>
                <a:spcPts val="3488"/>
              </a:lnSpc>
            </a:pPr>
            <a:r>
              <a:rPr lang="en-US" sz="3792" spc="212">
                <a:solidFill>
                  <a:srgbClr val="022033"/>
                </a:solidFill>
                <a:latin typeface="Childling"/>
                <a:ea typeface="Childling"/>
                <a:cs typeface="Childling"/>
                <a:sym typeface="Childling"/>
              </a:rPr>
              <a:t>www.unsitiogenial.es</a:t>
            </a:r>
          </a:p>
        </p:txBody>
      </p:sp>
      <p:sp>
        <p:nvSpPr>
          <p:cNvPr name="TextBox 4" id="4"/>
          <p:cNvSpPr txBox="true"/>
          <p:nvPr/>
        </p:nvSpPr>
        <p:spPr>
          <a:xfrm rot="0">
            <a:off x="7534387" y="6914441"/>
            <a:ext cx="3219227" cy="502765"/>
          </a:xfrm>
          <a:prstGeom prst="rect">
            <a:avLst/>
          </a:prstGeom>
        </p:spPr>
        <p:txBody>
          <a:bodyPr anchor="t" rtlCol="false" tIns="0" lIns="0" bIns="0" rIns="0">
            <a:spAutoFit/>
          </a:bodyPr>
          <a:lstStyle/>
          <a:p>
            <a:pPr algn="ctr">
              <a:lnSpc>
                <a:spcPts val="3972"/>
              </a:lnSpc>
            </a:pPr>
            <a:r>
              <a:rPr lang="en-US" sz="3547" spc="365">
                <a:solidFill>
                  <a:srgbClr val="022033"/>
                </a:solidFill>
                <a:latin typeface="Be Vietnam"/>
                <a:ea typeface="Be Vietnam"/>
                <a:cs typeface="Be Vietnam"/>
                <a:sym typeface="Be Vietnam"/>
              </a:rPr>
              <a:t>CONÓCENOS</a:t>
            </a:r>
          </a:p>
        </p:txBody>
      </p:sp>
      <p:sp>
        <p:nvSpPr>
          <p:cNvPr name="TextBox 5" id="5"/>
          <p:cNvSpPr txBox="true"/>
          <p:nvPr/>
        </p:nvSpPr>
        <p:spPr>
          <a:xfrm rot="0">
            <a:off x="6267526" y="8805898"/>
            <a:ext cx="5752948" cy="544385"/>
          </a:xfrm>
          <a:prstGeom prst="rect">
            <a:avLst/>
          </a:prstGeom>
        </p:spPr>
        <p:txBody>
          <a:bodyPr anchor="t" rtlCol="false" tIns="0" lIns="0" bIns="0" rIns="0">
            <a:spAutoFit/>
          </a:bodyPr>
          <a:lstStyle/>
          <a:p>
            <a:pPr algn="ctr">
              <a:lnSpc>
                <a:spcPts val="3488"/>
              </a:lnSpc>
            </a:pPr>
            <a:r>
              <a:rPr lang="en-US" sz="3792" spc="212">
                <a:solidFill>
                  <a:srgbClr val="022033"/>
                </a:solidFill>
                <a:latin typeface="Childling"/>
                <a:ea typeface="Childling"/>
                <a:cs typeface="Childling"/>
                <a:sym typeface="Childling"/>
              </a:rPr>
              <a:t>@unsitiogenial</a:t>
            </a:r>
          </a:p>
        </p:txBody>
      </p:sp>
      <p:sp>
        <p:nvSpPr>
          <p:cNvPr name="Freeform 6" id="6"/>
          <p:cNvSpPr/>
          <p:nvPr/>
        </p:nvSpPr>
        <p:spPr>
          <a:xfrm flipH="false" flipV="false" rot="-7910484">
            <a:off x="-495162" y="7935975"/>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806484">
            <a:off x="-3174902" y="3100376"/>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137161">
            <a:off x="11071276" y="-3108299"/>
            <a:ext cx="6007735" cy="4809549"/>
          </a:xfrm>
          <a:custGeom>
            <a:avLst/>
            <a:gdLst/>
            <a:ahLst/>
            <a:cxnLst/>
            <a:rect r="r" b="b" t="t" l="l"/>
            <a:pathLst>
              <a:path h="4809549" w="6007735">
                <a:moveTo>
                  <a:pt x="0" y="0"/>
                </a:moveTo>
                <a:lnTo>
                  <a:pt x="6007735" y="0"/>
                </a:lnTo>
                <a:lnTo>
                  <a:pt x="6007735" y="4809549"/>
                </a:lnTo>
                <a:lnTo>
                  <a:pt x="0" y="480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4333730">
            <a:off x="15635070" y="-90841"/>
            <a:ext cx="5942288" cy="4757155"/>
          </a:xfrm>
          <a:custGeom>
            <a:avLst/>
            <a:gdLst/>
            <a:ahLst/>
            <a:cxnLst/>
            <a:rect r="r" b="b" t="t" l="l"/>
            <a:pathLst>
              <a:path h="4757155" w="5942288">
                <a:moveTo>
                  <a:pt x="0" y="0"/>
                </a:moveTo>
                <a:lnTo>
                  <a:pt x="5942288" y="0"/>
                </a:lnTo>
                <a:lnTo>
                  <a:pt x="5942288" y="4757155"/>
                </a:lnTo>
                <a:lnTo>
                  <a:pt x="0" y="4757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2700000">
            <a:off x="-1883985" y="-5382413"/>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
        <p:nvSpPr>
          <p:cNvPr name="Freeform 11" id="11"/>
          <p:cNvSpPr/>
          <p:nvPr/>
        </p:nvSpPr>
        <p:spPr>
          <a:xfrm flipH="false" flipV="false" rot="2700000">
            <a:off x="15458638" y="4595144"/>
            <a:ext cx="7242048" cy="8229600"/>
          </a:xfrm>
          <a:custGeom>
            <a:avLst/>
            <a:gdLst/>
            <a:ahLst/>
            <a:cxnLst/>
            <a:rect r="r" b="b" t="t" l="l"/>
            <a:pathLst>
              <a:path h="8229600" w="7242048">
                <a:moveTo>
                  <a:pt x="0" y="0"/>
                </a:moveTo>
                <a:lnTo>
                  <a:pt x="7242048" y="0"/>
                </a:lnTo>
                <a:lnTo>
                  <a:pt x="7242048" y="8229600"/>
                </a:lnTo>
                <a:lnTo>
                  <a:pt x="0" y="8229600"/>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DAHSEyQq4q0</dc:identifier>
  <dcterms:modified xsi:type="dcterms:W3CDTF">2011-08-01T06:04:30Z</dcterms:modified>
  <cp:revision>1</cp:revision>
  <dc:title>Avance 2 Lab. Diseño Lógico 302</dc:title>
</cp:coreProperties>
</file>